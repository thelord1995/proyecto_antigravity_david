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73E409-42ED-4810-82DC-5E05F4ACAB5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6FC4A5-1A22-4BA9-B47C-10F02154D0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D621CA-03B8-4042-BD61-CEE3994A07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05418D-CF10-46D9-8D2D-A4D096C75F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3CA90-1090-474B-8754-501D37B3A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4CF6D-5AFE-4DC2-A3BF-B0C381362C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49154-4D14-46FE-8A2D-EA4E52CE9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53D017-5049-4A8C-911D-E8AC023E2D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0372C-3135-48D4-9282-A5DD70AF22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9D73F-6484-46FD-9778-CAC890150B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7629AF-8AA6-4E41-BE87-4F18F8D18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03E48-7A22-4C5F-9161-DD7FC2E4A5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A5BC04-57C9-4EB9-9432-3A222CAC6F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BD2A98-5C9B-4E50-931F-942BC1A98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7A549F-BD4E-46E2-A84A-05C4DB57AA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AF1570-9A18-46AF-A98C-CD5C5E89A3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847A12-13BC-44DA-9181-022B7247DF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2965E-8C93-4724-BCC2-CA772F311B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50B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029200" y="-914400"/>
            <a:ext cx="4571640" cy="4571640"/>
          </a:xfrm>
          <a:prstGeom prst="rect">
            <a:avLst/>
          </a:prstGeom>
          <a:solidFill>
            <a:srgbClr val="0074CC">
              <a:alpha val="8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0" y="2743200"/>
            <a:ext cx="3657240" cy="3657240"/>
          </a:xfrm>
          <a:solidFill>
            <a:srgbClr val="00B478">
              <a:alpha val="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1005840"/>
            <a:ext cx="639720" cy="63972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0058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AG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234440" y="10058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spc="499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ANTIGRAVITY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234440" y="13716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1800000"/>
            <a:ext cx="822924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Plataforma de </a:t>
            </a:r>
            <a:r>
              <a:rPr lang="en-US" sz="28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Investigación</a:t>
            </a: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8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Algorítmica</a:t>
            </a: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con IA </a:t>
            </a:r>
            <a:r>
              <a:rPr lang="en-US" sz="28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Supervisada</a:t>
            </a:r>
            <a:endParaRPr lang="es-E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b"/>
          <p:cNvSpPr/>
          <p:nvPr/>
        </p:nvSpPr>
        <p:spPr>
          <a:xfrm>
            <a:off x="457200" y="2480040"/>
            <a:ext cx="82292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u="none" strike="noStrike" dirty="0">
                <a:solidFill>
                  <a:srgbClr val="00B478"/>
                </a:solidFill>
                <a:effectLst/>
                <a:uFillTx/>
                <a:latin typeface="Calibri"/>
              </a:rPr>
              <a:t>Laboratorio Académico de Validación Segura de Sistemas Algorítmicos Asistidos por IA</a:t>
            </a:r>
            <a:endParaRPr lang="es-E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57200" y="2779920"/>
            <a:ext cx="82292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Autor: David Bazaga Domínguez  ·  Curso: IA práctica para crear soluciones de negocio con Antigravity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57200" y="3060000"/>
            <a:ext cx="82292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JASÓN FORMACIÓN  ·  Profesora: Angélica Ortiz  ·  30/03/2026 – 09/06/2026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457200" y="3520440"/>
            <a:ext cx="2559960" cy="273960"/>
          </a:xfrm>
          <a:prstGeom prst="rect">
            <a:avLst/>
          </a:prstGeom>
          <a:solidFill>
            <a:srgbClr val="00E096">
              <a:alpha val="12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457200" y="35204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121 Tests Passed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3246120" y="3520440"/>
            <a:ext cx="2559960" cy="273960"/>
          </a:xfrm>
          <a:prstGeom prst="rect">
            <a:avLst/>
          </a:prstGeom>
          <a:solidFill>
            <a:srgbClr val="FF8C42">
              <a:alpha val="12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3246120" y="35204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approved_for_real = False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6035040" y="3520440"/>
            <a:ext cx="2559960" cy="273960"/>
          </a:xfrm>
          <a:prstGeom prst="rect">
            <a:avLst/>
          </a:prstGeom>
          <a:solidFill>
            <a:srgbClr val="4DA8FF">
              <a:alpha val="12000"/>
            </a:srgbClr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6035040" y="35204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SHA-256 Traceability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02 · PROBLEMA &amp; MOTIVACIÓN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Desafío: Validar Sistemas Algorítmicos con Seguridad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365760" y="1234440"/>
            <a:ext cx="4114440" cy="273960"/>
          </a:xfrm>
          <a:prstGeom prst="rect">
            <a:avLst/>
          </a:prstGeom>
          <a:solidFill>
            <a:srgbClr val="E53E3E">
              <a:alpha val="15000"/>
            </a:srgbClr>
          </a:solidFill>
          <a:ln w="635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365760" y="1234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PROBLEMAS QUE MOTIVARON EL PROYECTO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3"/>
          <a:stretch/>
        </p:blipFill>
        <p:spPr>
          <a:xfrm>
            <a:off x="502920" y="1664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5"/>
          <p:cNvSpPr/>
          <p:nvPr/>
        </p:nvSpPr>
        <p:spPr>
          <a:xfrm>
            <a:off x="822960" y="162756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Backtests optimistas por sobreajuste a datos históricos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/>
          <p:cNvPicPr/>
          <p:nvPr/>
        </p:nvPicPr>
        <p:blipFill>
          <a:blip r:embed="rId3"/>
          <a:stretch/>
        </p:blipFill>
        <p:spPr>
          <a:xfrm>
            <a:off x="502920" y="2167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6"/>
          <p:cNvSpPr/>
          <p:nvPr/>
        </p:nvSpPr>
        <p:spPr>
          <a:xfrm>
            <a:off x="822960" y="213048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IA que toma decisiones autónomas sin supervisión humana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2" descr="preencoded.png"/>
          <p:cNvPicPr/>
          <p:nvPr/>
        </p:nvPicPr>
        <p:blipFill>
          <a:blip r:embed="rId3"/>
          <a:stretch/>
        </p:blipFill>
        <p:spPr>
          <a:xfrm>
            <a:off x="502920" y="26701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7"/>
          <p:cNvSpPr/>
          <p:nvPr/>
        </p:nvSpPr>
        <p:spPr>
          <a:xfrm>
            <a:off x="822960" y="263340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Ausencia de validación estadística de significancia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3"/>
          <a:stretch/>
        </p:blipFill>
        <p:spPr>
          <a:xfrm>
            <a:off x="502920" y="31730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8"/>
          <p:cNvSpPr/>
          <p:nvPr/>
        </p:nvSpPr>
        <p:spPr>
          <a:xfrm>
            <a:off x="822960" y="313632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Riesgo de ruina no cuantificado antes de ir a producción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4" descr="preencoded.png"/>
          <p:cNvPicPr/>
          <p:nvPr/>
        </p:nvPicPr>
        <p:blipFill>
          <a:blip r:embed="rId3"/>
          <a:stretch/>
        </p:blipFill>
        <p:spPr>
          <a:xfrm>
            <a:off x="502920" y="3675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9"/>
          <p:cNvSpPr/>
          <p:nvPr/>
        </p:nvSpPr>
        <p:spPr>
          <a:xfrm>
            <a:off x="822960" y="363924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Trazabilidad insuficiente en decisiones algorítmicas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754880" y="1234440"/>
            <a:ext cx="4023000" cy="273960"/>
          </a:xfrm>
          <a:prstGeom prst="rect">
            <a:avLst/>
          </a:prstGeom>
          <a:solidFill>
            <a:srgbClr val="00B478">
              <a:alpha val="15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754880" y="12344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ANTIGRAVITY: LABORATORIO DE VALIDACIÓN (No trading automático)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5" descr="preencoded.png"/>
          <p:cNvPicPr/>
          <p:nvPr/>
        </p:nvPicPr>
        <p:blipFill>
          <a:blip r:embed="rId4"/>
          <a:stretch/>
        </p:blipFill>
        <p:spPr>
          <a:xfrm>
            <a:off x="4892040" y="1664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12"/>
          <p:cNvSpPr/>
          <p:nvPr/>
        </p:nvSpPr>
        <p:spPr>
          <a:xfrm>
            <a:off x="5212080" y="162756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Validación estadística rigurosa con BacktestValidator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6" descr="preencoded.png"/>
          <p:cNvPicPr/>
          <p:nvPr/>
        </p:nvPicPr>
        <p:blipFill>
          <a:blip r:embed="rId4"/>
          <a:stretch/>
        </p:blipFill>
        <p:spPr>
          <a:xfrm>
            <a:off x="4892040" y="21672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13"/>
          <p:cNvSpPr/>
          <p:nvPr/>
        </p:nvSpPr>
        <p:spPr>
          <a:xfrm>
            <a:off x="5212080" y="213048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AI Validator Contracts: IA asesora, humanos aprueban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7" descr="preencoded.png"/>
          <p:cNvPicPr/>
          <p:nvPr/>
        </p:nvPicPr>
        <p:blipFill>
          <a:blip r:embed="rId4"/>
          <a:stretch/>
        </p:blipFill>
        <p:spPr>
          <a:xfrm>
            <a:off x="4892040" y="26701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4"/>
          <p:cNvSpPr/>
          <p:nvPr/>
        </p:nvSpPr>
        <p:spPr>
          <a:xfrm>
            <a:off x="5212080" y="263340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Monte Carlo con 10K simulaciones de ruina financiera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8" descr="preencoded.png"/>
          <p:cNvPicPr/>
          <p:nvPr/>
        </p:nvPicPr>
        <p:blipFill>
          <a:blip r:embed="rId4"/>
          <a:stretch/>
        </p:blipFill>
        <p:spPr>
          <a:xfrm>
            <a:off x="4892040" y="31730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5"/>
          <p:cNvSpPr/>
          <p:nvPr/>
        </p:nvSpPr>
        <p:spPr>
          <a:xfrm>
            <a:off x="5212080" y="313632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RiskEngine obligatorio antes de cualquier aprobación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9" descr="preencoded.png"/>
          <p:cNvPicPr/>
          <p:nvPr/>
        </p:nvPicPr>
        <p:blipFill>
          <a:blip r:embed="rId4"/>
          <a:stretch/>
        </p:blipFill>
        <p:spPr>
          <a:xfrm>
            <a:off x="4892040" y="36759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16"/>
          <p:cNvSpPr/>
          <p:nvPr/>
        </p:nvSpPr>
        <p:spPr>
          <a:xfrm>
            <a:off x="5212080" y="3639240"/>
            <a:ext cx="3428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SHA-256 en cada paso del pipeline de análisis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2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03 · ARQUITECTURA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Arquitectura del Sistema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65760" y="1261800"/>
            <a:ext cx="8412120" cy="255600"/>
          </a:xfrm>
          <a:prstGeom prst="rect">
            <a:avLst/>
          </a:prstGeom>
          <a:solidFill>
            <a:srgbClr val="0074CC">
              <a:alpha val="12000"/>
            </a:srgbClr>
          </a:solidFill>
          <a:ln w="6350">
            <a:solidFill>
              <a:srgbClr val="0074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365760" y="12618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CAPA DE ENTRADA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286000" y="1572840"/>
            <a:ext cx="4571640" cy="475200"/>
          </a:xfrm>
          <a:prstGeom prst="rect">
            <a:avLst/>
          </a:prstGeom>
          <a:solidFill>
            <a:srgbClr val="0F2040"/>
          </a:solidFill>
          <a:ln w="1016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2286000" y="1572840"/>
            <a:ext cx="45716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MT5 Report  →  MT5HtmlParser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65760" y="2176200"/>
            <a:ext cx="8412120" cy="255600"/>
          </a:xfrm>
          <a:prstGeom prst="rect">
            <a:avLst/>
          </a:prstGeom>
          <a:solidFill>
            <a:srgbClr val="00B478">
              <a:alpha val="12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365760" y="21762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CAPA DE ANÁLISIS &amp; SIMULACIÓN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457200" y="2487240"/>
            <a:ext cx="191988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57200" y="24872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Metrics Engine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2560320" y="2487240"/>
            <a:ext cx="191988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2560320" y="24872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Monte Carlo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4663440" y="2487240"/>
            <a:ext cx="191988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4663440" y="24872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Risk of Ruin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6766560" y="2487240"/>
            <a:ext cx="191988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6766560" y="2487240"/>
            <a:ext cx="191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BacktestValidator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365760" y="3090600"/>
            <a:ext cx="8412120" cy="255600"/>
          </a:xfrm>
          <a:prstGeom prst="rect">
            <a:avLst/>
          </a:prstGeom>
          <a:solidFill>
            <a:srgbClr val="FF8C42">
              <a:alpha val="12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365760" y="30906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CAPA DE CONTROL &amp; APROBACIÓN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1188720" y="3401640"/>
            <a:ext cx="233136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1188720" y="34016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RiskEngine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3794760" y="3401640"/>
            <a:ext cx="233136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3794760" y="34016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AI Validator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6400800" y="3401640"/>
            <a:ext cx="2331360" cy="475200"/>
          </a:xfrm>
          <a:prstGeom prst="rect">
            <a:avLst/>
          </a:prstGeom>
          <a:solidFill>
            <a:srgbClr val="0F2040"/>
          </a:solidFill>
          <a:ln w="762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4"/>
          <p:cNvSpPr/>
          <p:nvPr/>
        </p:nvSpPr>
        <p:spPr>
          <a:xfrm>
            <a:off x="6400800" y="3401640"/>
            <a:ext cx="2331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Approval Layer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365760" y="4005000"/>
            <a:ext cx="8412120" cy="255600"/>
          </a:xfrm>
          <a:prstGeom prst="rect">
            <a:avLst/>
          </a:prstGeom>
          <a:solidFill>
            <a:srgbClr val="00E096">
              <a:alpha val="12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365760" y="400500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CAPA DE SALIDA — PAPER TRADING ONLY · SIN EJECUCIÓN REAL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2743200" y="4316040"/>
            <a:ext cx="3657240" cy="475200"/>
          </a:xfrm>
          <a:prstGeom prst="rect">
            <a:avLst/>
          </a:prstGeom>
          <a:solidFill>
            <a:srgbClr val="00B478">
              <a:alpha val="20000"/>
            </a:srgbClr>
          </a:solidFill>
          <a:ln w="1524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8"/>
          <p:cNvSpPr/>
          <p:nvPr/>
        </p:nvSpPr>
        <p:spPr>
          <a:xfrm>
            <a:off x="2743200" y="4316040"/>
            <a:ext cx="36572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Paper Trading Sandbox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3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solidFill>
            <a:srgbClr val="09142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ARQUITECTURA VISUAL DE ANTIGRAVITY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7315200" y="621720"/>
            <a:ext cx="1462680" cy="347040"/>
          </a:xfrm>
          <a:prstGeom prst="rect">
            <a:avLst/>
          </a:prstGeom>
          <a:solidFill>
            <a:srgbClr val="00B478">
              <a:alpha val="20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7315200" y="6217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FASE 4.4 COMPLETADA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20040" y="621720"/>
            <a:ext cx="3108600" cy="548280"/>
          </a:xfrm>
          <a:prstGeom prst="rect">
            <a:avLst/>
          </a:prstGeom>
          <a:solidFill>
            <a:srgbClr val="0A0000">
              <a:alpha val="70000"/>
            </a:srgbClr>
          </a:solidFill>
          <a:ln w="1016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20040" y="621720"/>
            <a:ext cx="54360" cy="54828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475560" y="62172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D93D"/>
                </a:solidFill>
                <a:effectLst/>
                <a:uFillTx/>
                <a:latin typeface="Consolas"/>
                <a:ea typeface="Consolas"/>
              </a:rPr>
              <a:t>approved_for_real = False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D93D"/>
                </a:solidFill>
                <a:effectLst/>
                <a:uFillTx/>
                <a:latin typeface="Consolas"/>
                <a:ea typeface="Consolas"/>
              </a:rPr>
              <a:t>ALLOW_REAL_EXECUTION = False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320040" y="1280160"/>
            <a:ext cx="8503560" cy="219240"/>
          </a:xfrm>
          <a:prstGeom prst="rect">
            <a:avLst/>
          </a:prstGeom>
          <a:solidFill>
            <a:srgbClr val="0074CC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320040" y="1280160"/>
            <a:ext cx="8503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PIPELINE PRINCIPAL — ANÁLISIS SIN EJECUCIÓN REAL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20040" y="1554480"/>
            <a:ext cx="153576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320040" y="1554480"/>
            <a:ext cx="1535760" cy="200880"/>
          </a:xfrm>
          <a:prstGeom prst="rect">
            <a:avLst/>
          </a:prstGeom>
          <a:solidFill>
            <a:srgbClr val="4DA8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320040" y="1554480"/>
            <a:ext cx="153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MT5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Report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1856160" y="1719000"/>
            <a:ext cx="182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DA8FF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2039040" y="1554480"/>
            <a:ext cx="153576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2039040" y="1554480"/>
            <a:ext cx="1535760" cy="200880"/>
          </a:xfrm>
          <a:prstGeom prst="rect">
            <a:avLst/>
          </a:prstGeom>
          <a:solidFill>
            <a:srgbClr val="4DA8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2039040" y="1554480"/>
            <a:ext cx="153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MT5Html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Parser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3575160" y="1719000"/>
            <a:ext cx="182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DA8FF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3758040" y="1554480"/>
            <a:ext cx="153576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3758040" y="1554480"/>
            <a:ext cx="1535760" cy="200880"/>
          </a:xfrm>
          <a:prstGeom prst="rect">
            <a:avLst/>
          </a:prstGeom>
          <a:solidFill>
            <a:srgbClr val="00B478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3758040" y="1554480"/>
            <a:ext cx="153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Metrics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Engine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5294520" y="1719000"/>
            <a:ext cx="182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B478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5477400" y="1554480"/>
            <a:ext cx="153576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5477400" y="1554480"/>
            <a:ext cx="1535760" cy="200880"/>
          </a:xfrm>
          <a:prstGeom prst="rect">
            <a:avLst/>
          </a:prstGeom>
          <a:solidFill>
            <a:srgbClr val="FF8C42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3"/>
          <p:cNvSpPr/>
          <p:nvPr/>
        </p:nvSpPr>
        <p:spPr>
          <a:xfrm>
            <a:off x="5477400" y="1554480"/>
            <a:ext cx="153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Monte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Carlo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4"/>
          <p:cNvSpPr/>
          <p:nvPr/>
        </p:nvSpPr>
        <p:spPr>
          <a:xfrm>
            <a:off x="7013520" y="1719000"/>
            <a:ext cx="182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8C42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7196400" y="1554480"/>
            <a:ext cx="153576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7196400" y="1554480"/>
            <a:ext cx="1535760" cy="200880"/>
          </a:xfrm>
          <a:prstGeom prst="rect">
            <a:avLst/>
          </a:prstGeom>
          <a:solidFill>
            <a:srgbClr val="FF8C42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7196400" y="1554480"/>
            <a:ext cx="15357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of Ruin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8"/>
          <p:cNvSpPr/>
          <p:nvPr/>
        </p:nvSpPr>
        <p:spPr>
          <a:xfrm>
            <a:off x="320040" y="2359080"/>
            <a:ext cx="191988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320040" y="2359080"/>
            <a:ext cx="1919880" cy="20088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0"/>
          <p:cNvSpPr/>
          <p:nvPr/>
        </p:nvSpPr>
        <p:spPr>
          <a:xfrm>
            <a:off x="320040" y="23590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Backtest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Valid.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1"/>
          <p:cNvSpPr/>
          <p:nvPr/>
        </p:nvSpPr>
        <p:spPr>
          <a:xfrm>
            <a:off x="2240280" y="2541960"/>
            <a:ext cx="228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2"/>
          <p:cNvSpPr/>
          <p:nvPr/>
        </p:nvSpPr>
        <p:spPr>
          <a:xfrm>
            <a:off x="2468880" y="2359080"/>
            <a:ext cx="191988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3"/>
          <p:cNvSpPr/>
          <p:nvPr/>
        </p:nvSpPr>
        <p:spPr>
          <a:xfrm>
            <a:off x="2468880" y="2359080"/>
            <a:ext cx="1919880" cy="200880"/>
          </a:xfrm>
          <a:prstGeom prst="rect">
            <a:avLst/>
          </a:prstGeom>
          <a:solidFill>
            <a:srgbClr val="E53E3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4"/>
          <p:cNvSpPr/>
          <p:nvPr/>
        </p:nvSpPr>
        <p:spPr>
          <a:xfrm>
            <a:off x="2468880" y="23590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Engine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5"/>
          <p:cNvSpPr/>
          <p:nvPr/>
        </p:nvSpPr>
        <p:spPr>
          <a:xfrm>
            <a:off x="4389120" y="2541960"/>
            <a:ext cx="228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53E3E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4617720" y="2359080"/>
            <a:ext cx="191988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7"/>
          <p:cNvSpPr/>
          <p:nvPr/>
        </p:nvSpPr>
        <p:spPr>
          <a:xfrm>
            <a:off x="4617720" y="2359080"/>
            <a:ext cx="1919880" cy="200880"/>
          </a:xfrm>
          <a:prstGeom prst="rect">
            <a:avLst/>
          </a:prstGeom>
          <a:solidFill>
            <a:srgbClr val="A78BFA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4617720" y="23590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AI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Validator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9"/>
          <p:cNvSpPr/>
          <p:nvPr/>
        </p:nvSpPr>
        <p:spPr>
          <a:xfrm>
            <a:off x="6537960" y="2541960"/>
            <a:ext cx="228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8BFA"/>
                </a:solidFill>
                <a:effectLst/>
                <a:uFillTx/>
                <a:latin typeface="Calibri"/>
              </a:rPr>
              <a:t>→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0"/>
          <p:cNvSpPr/>
          <p:nvPr/>
        </p:nvSpPr>
        <p:spPr>
          <a:xfrm>
            <a:off x="6766560" y="2359080"/>
            <a:ext cx="1919880" cy="712800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1"/>
          <p:cNvSpPr/>
          <p:nvPr/>
        </p:nvSpPr>
        <p:spPr>
          <a:xfrm>
            <a:off x="6766560" y="2359080"/>
            <a:ext cx="1919880" cy="20088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2"/>
          <p:cNvSpPr/>
          <p:nvPr/>
        </p:nvSpPr>
        <p:spPr>
          <a:xfrm>
            <a:off x="6766560" y="235908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Approval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Layer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3"/>
          <p:cNvSpPr/>
          <p:nvPr/>
        </p:nvSpPr>
        <p:spPr>
          <a:xfrm>
            <a:off x="320040" y="3182040"/>
            <a:ext cx="8503560" cy="438480"/>
          </a:xfrm>
          <a:prstGeom prst="rect">
            <a:avLst/>
          </a:prstGeom>
          <a:solidFill>
            <a:srgbClr val="00B478">
              <a:alpha val="14000"/>
            </a:srgbClr>
          </a:solidFill>
          <a:ln w="1270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4"/>
          <p:cNvSpPr/>
          <p:nvPr/>
        </p:nvSpPr>
        <p:spPr>
          <a:xfrm>
            <a:off x="320040" y="3182040"/>
            <a:ext cx="8503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📊  Paper Trading Sandbox  ·  No real execution  ·  approved_for_real = False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5"/>
          <p:cNvSpPr/>
          <p:nvPr/>
        </p:nvSpPr>
        <p:spPr>
          <a:xfrm>
            <a:off x="320040" y="3703320"/>
            <a:ext cx="5120280" cy="1078560"/>
          </a:xfrm>
          <a:prstGeom prst="rect">
            <a:avLst/>
          </a:prstGeom>
          <a:solidFill>
            <a:srgbClr val="080010">
              <a:alpha val="80000"/>
            </a:srgbClr>
          </a:solidFill>
          <a:ln w="762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6"/>
          <p:cNvSpPr/>
          <p:nvPr/>
        </p:nvSpPr>
        <p:spPr>
          <a:xfrm>
            <a:off x="411480" y="373068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spc="99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INVARIANTES DE SEGURIDAD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7"/>
          <p:cNvSpPr/>
          <p:nvPr/>
        </p:nvSpPr>
        <p:spPr>
          <a:xfrm>
            <a:off x="438840" y="39502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9999"/>
                </a:solidFill>
                <a:effectLst/>
                <a:uFillTx/>
                <a:latin typeface="Consolas"/>
                <a:ea typeface="Consolas"/>
              </a:rPr>
              <a:t>⊘ La IA no decide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8"/>
          <p:cNvSpPr/>
          <p:nvPr/>
        </p:nvSpPr>
        <p:spPr>
          <a:xfrm>
            <a:off x="438840" y="4297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9999"/>
                </a:solidFill>
                <a:effectLst/>
                <a:uFillTx/>
                <a:latin typeface="Consolas"/>
                <a:ea typeface="Consolas"/>
              </a:rPr>
              <a:t>⊘ La IA no ejecuta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9"/>
          <p:cNvSpPr/>
          <p:nvPr/>
        </p:nvSpPr>
        <p:spPr>
          <a:xfrm>
            <a:off x="2999160" y="39502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9999"/>
                </a:solidFill>
                <a:effectLst/>
                <a:uFillTx/>
                <a:latin typeface="Consolas"/>
                <a:ea typeface="Consolas"/>
              </a:rPr>
              <a:t>⊘ RiskEngine obligatorio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0"/>
          <p:cNvSpPr/>
          <p:nvPr/>
        </p:nvSpPr>
        <p:spPr>
          <a:xfrm>
            <a:off x="2999160" y="4297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9999"/>
                </a:solidFill>
                <a:effectLst/>
                <a:uFillTx/>
                <a:latin typeface="Consolas"/>
                <a:ea typeface="Consolas"/>
              </a:rPr>
              <a:t>⊘ Aprobación humana obligatoria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1"/>
          <p:cNvSpPr/>
          <p:nvPr/>
        </p:nvSpPr>
        <p:spPr>
          <a:xfrm>
            <a:off x="5623560" y="3703320"/>
            <a:ext cx="712800" cy="1078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2"/>
          <p:cNvSpPr/>
          <p:nvPr/>
        </p:nvSpPr>
        <p:spPr>
          <a:xfrm>
            <a:off x="5623560" y="3767400"/>
            <a:ext cx="712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121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3"/>
          <p:cNvSpPr/>
          <p:nvPr/>
        </p:nvSpPr>
        <p:spPr>
          <a:xfrm>
            <a:off x="5623560" y="4279320"/>
            <a:ext cx="712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Tests Passed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4"/>
          <p:cNvSpPr/>
          <p:nvPr/>
        </p:nvSpPr>
        <p:spPr>
          <a:xfrm>
            <a:off x="6428160" y="3703320"/>
            <a:ext cx="712800" cy="107856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5"/>
          <p:cNvSpPr/>
          <p:nvPr/>
        </p:nvSpPr>
        <p:spPr>
          <a:xfrm>
            <a:off x="6428160" y="3767400"/>
            <a:ext cx="712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10K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6"/>
          <p:cNvSpPr/>
          <p:nvPr/>
        </p:nvSpPr>
        <p:spPr>
          <a:xfrm>
            <a:off x="6428160" y="4279320"/>
            <a:ext cx="712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Monte Carlo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7"/>
          <p:cNvSpPr/>
          <p:nvPr/>
        </p:nvSpPr>
        <p:spPr>
          <a:xfrm>
            <a:off x="7232760" y="3703320"/>
            <a:ext cx="712800" cy="107856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8"/>
          <p:cNvSpPr/>
          <p:nvPr/>
        </p:nvSpPr>
        <p:spPr>
          <a:xfrm>
            <a:off x="7232760" y="3767400"/>
            <a:ext cx="712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SHA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9"/>
          <p:cNvSpPr/>
          <p:nvPr/>
        </p:nvSpPr>
        <p:spPr>
          <a:xfrm>
            <a:off x="7232760" y="4279320"/>
            <a:ext cx="712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Trazabilidad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0"/>
          <p:cNvSpPr/>
          <p:nvPr/>
        </p:nvSpPr>
        <p:spPr>
          <a:xfrm>
            <a:off x="8037720" y="3703320"/>
            <a:ext cx="712800" cy="107856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1"/>
          <p:cNvSpPr/>
          <p:nvPr/>
        </p:nvSpPr>
        <p:spPr>
          <a:xfrm>
            <a:off x="8037720" y="3767400"/>
            <a:ext cx="712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2"/>
          <p:cNvSpPr/>
          <p:nvPr/>
        </p:nvSpPr>
        <p:spPr>
          <a:xfrm>
            <a:off x="8037720" y="4279320"/>
            <a:ext cx="712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Real Trades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3"/>
          <p:cNvSpPr/>
          <p:nvPr/>
        </p:nvSpPr>
        <p:spPr>
          <a:xfrm>
            <a:off x="0" y="4855320"/>
            <a:ext cx="9143640" cy="287640"/>
          </a:xfrm>
          <a:prstGeom prst="rect">
            <a:avLst/>
          </a:prstGeom>
          <a:solidFill>
            <a:srgbClr val="09142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4"/>
          <p:cNvSpPr/>
          <p:nvPr/>
        </p:nvSpPr>
        <p:spPr>
          <a:xfrm>
            <a:off x="0" y="4855320"/>
            <a:ext cx="914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ROADMAP: RemoteAPIValidator · Telegram Approval · Gatekeeper MT5 · Paper Trading Sandbox · TradingView Integration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5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4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05 · PIPELINE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Pipeline de Análisis Completo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365760" y="1325880"/>
            <a:ext cx="14626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365760" y="1325880"/>
            <a:ext cx="1462680" cy="255600"/>
          </a:xfrm>
          <a:prstGeom prst="rect">
            <a:avLst/>
          </a:prstGeom>
          <a:solidFill>
            <a:srgbClr val="4DA8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36576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365760" y="16002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MT5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Report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1828800" y="15544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DA8FF"/>
                </a:solidFill>
                <a:effectLst/>
                <a:uFillTx/>
                <a:latin typeface="Calibri"/>
              </a:rPr>
              <a:t>→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2103120" y="1325880"/>
            <a:ext cx="14626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2103120" y="1325880"/>
            <a:ext cx="1462680" cy="255600"/>
          </a:xfrm>
          <a:prstGeom prst="rect">
            <a:avLst/>
          </a:prstGeom>
          <a:solidFill>
            <a:srgbClr val="4DA8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210312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2103120" y="16002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HTML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Parser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3566160" y="15544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DA8FF"/>
                </a:solidFill>
                <a:effectLst/>
                <a:uFillTx/>
                <a:latin typeface="Calibri"/>
              </a:rPr>
              <a:t>→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3840480" y="1325880"/>
            <a:ext cx="14626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3840480" y="1325880"/>
            <a:ext cx="1462680" cy="255600"/>
          </a:xfrm>
          <a:prstGeom prst="rect">
            <a:avLst/>
          </a:prstGeom>
          <a:solidFill>
            <a:srgbClr val="00B478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384048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3840480" y="16002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Metrics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Engine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5303520" y="15544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B478"/>
                </a:solidFill>
                <a:effectLst/>
                <a:uFillTx/>
                <a:latin typeface="Calibri"/>
              </a:rPr>
              <a:t>→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5577840" y="1325880"/>
            <a:ext cx="14626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5577840" y="1325880"/>
            <a:ext cx="1462680" cy="255600"/>
          </a:xfrm>
          <a:prstGeom prst="rect">
            <a:avLst/>
          </a:prstGeom>
          <a:solidFill>
            <a:srgbClr val="FF8C42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557784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5577840" y="16002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Monte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Carlo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7040880" y="15544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8C42"/>
                </a:solidFill>
                <a:effectLst/>
                <a:uFillTx/>
                <a:latin typeface="Calibri"/>
              </a:rPr>
              <a:t>→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7315200" y="1325880"/>
            <a:ext cx="14626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4"/>
          <p:cNvSpPr/>
          <p:nvPr/>
        </p:nvSpPr>
        <p:spPr>
          <a:xfrm>
            <a:off x="7315200" y="1325880"/>
            <a:ext cx="1462680" cy="255600"/>
          </a:xfrm>
          <a:prstGeom prst="rect">
            <a:avLst/>
          </a:prstGeom>
          <a:solidFill>
            <a:srgbClr val="FF8C42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731520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7315200" y="160020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of Ruin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7"/>
          <p:cNvSpPr/>
          <p:nvPr/>
        </p:nvSpPr>
        <p:spPr>
          <a:xfrm>
            <a:off x="8321040" y="1645920"/>
            <a:ext cx="72720" cy="1234080"/>
          </a:xfrm>
          <a:prstGeom prst="rect">
            <a:avLst/>
          </a:prstGeom>
          <a:solidFill>
            <a:srgbClr val="FF8C42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7955280" y="26517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8C42"/>
                </a:solidFill>
                <a:effectLst/>
                <a:uFillTx/>
                <a:latin typeface="Calibri"/>
              </a:rPr>
              <a:t>↓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9"/>
          <p:cNvSpPr/>
          <p:nvPr/>
        </p:nvSpPr>
        <p:spPr>
          <a:xfrm>
            <a:off x="6263640" y="2514600"/>
            <a:ext cx="16912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0"/>
          <p:cNvSpPr/>
          <p:nvPr/>
        </p:nvSpPr>
        <p:spPr>
          <a:xfrm>
            <a:off x="6263640" y="2514600"/>
            <a:ext cx="1691280" cy="25560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1"/>
          <p:cNvSpPr/>
          <p:nvPr/>
        </p:nvSpPr>
        <p:spPr>
          <a:xfrm>
            <a:off x="6263640" y="2514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2"/>
          <p:cNvSpPr/>
          <p:nvPr/>
        </p:nvSpPr>
        <p:spPr>
          <a:xfrm>
            <a:off x="6263640" y="278892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Backtest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Valid.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3"/>
          <p:cNvSpPr/>
          <p:nvPr/>
        </p:nvSpPr>
        <p:spPr>
          <a:xfrm>
            <a:off x="5989320" y="27432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←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4"/>
          <p:cNvSpPr/>
          <p:nvPr/>
        </p:nvSpPr>
        <p:spPr>
          <a:xfrm>
            <a:off x="4297680" y="2514600"/>
            <a:ext cx="16912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5"/>
          <p:cNvSpPr/>
          <p:nvPr/>
        </p:nvSpPr>
        <p:spPr>
          <a:xfrm>
            <a:off x="4297680" y="2514600"/>
            <a:ext cx="1691280" cy="255600"/>
          </a:xfrm>
          <a:prstGeom prst="rect">
            <a:avLst/>
          </a:prstGeom>
          <a:solidFill>
            <a:srgbClr val="E53E3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6"/>
          <p:cNvSpPr/>
          <p:nvPr/>
        </p:nvSpPr>
        <p:spPr>
          <a:xfrm>
            <a:off x="4297680" y="2514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7"/>
          <p:cNvSpPr/>
          <p:nvPr/>
        </p:nvSpPr>
        <p:spPr>
          <a:xfrm>
            <a:off x="4297680" y="278892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Engine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8"/>
          <p:cNvSpPr/>
          <p:nvPr/>
        </p:nvSpPr>
        <p:spPr>
          <a:xfrm>
            <a:off x="4023360" y="27432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53E3E"/>
                </a:solidFill>
                <a:effectLst/>
                <a:uFillTx/>
                <a:latin typeface="Calibri"/>
              </a:rPr>
              <a:t>←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9"/>
          <p:cNvSpPr/>
          <p:nvPr/>
        </p:nvSpPr>
        <p:spPr>
          <a:xfrm>
            <a:off x="2331720" y="2514600"/>
            <a:ext cx="16912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0"/>
          <p:cNvSpPr/>
          <p:nvPr/>
        </p:nvSpPr>
        <p:spPr>
          <a:xfrm>
            <a:off x="2331720" y="2514600"/>
            <a:ext cx="1691280" cy="255600"/>
          </a:xfrm>
          <a:prstGeom prst="rect">
            <a:avLst/>
          </a:prstGeom>
          <a:solidFill>
            <a:srgbClr val="A78BFA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1"/>
          <p:cNvSpPr/>
          <p:nvPr/>
        </p:nvSpPr>
        <p:spPr>
          <a:xfrm>
            <a:off x="2331720" y="2514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2"/>
          <p:cNvSpPr/>
          <p:nvPr/>
        </p:nvSpPr>
        <p:spPr>
          <a:xfrm>
            <a:off x="2331720" y="278892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AI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Validator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3"/>
          <p:cNvSpPr/>
          <p:nvPr/>
        </p:nvSpPr>
        <p:spPr>
          <a:xfrm>
            <a:off x="2057400" y="27432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78BFA"/>
                </a:solidFill>
                <a:effectLst/>
                <a:uFillTx/>
                <a:latin typeface="Calibri"/>
              </a:rPr>
              <a:t>←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4"/>
          <p:cNvSpPr/>
          <p:nvPr/>
        </p:nvSpPr>
        <p:spPr>
          <a:xfrm>
            <a:off x="365760" y="2514600"/>
            <a:ext cx="1691280" cy="914040"/>
          </a:xfrm>
          <a:prstGeom prst="rect">
            <a:avLst/>
          </a:prstGeom>
          <a:solidFill>
            <a:srgbClr val="0F2040"/>
          </a:solidFill>
          <a:ln w="1016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5"/>
          <p:cNvSpPr/>
          <p:nvPr/>
        </p:nvSpPr>
        <p:spPr>
          <a:xfrm>
            <a:off x="365760" y="2514600"/>
            <a:ext cx="1691280" cy="25560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6"/>
          <p:cNvSpPr/>
          <p:nvPr/>
        </p:nvSpPr>
        <p:spPr>
          <a:xfrm>
            <a:off x="365760" y="2514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7"/>
          <p:cNvSpPr/>
          <p:nvPr/>
        </p:nvSpPr>
        <p:spPr>
          <a:xfrm>
            <a:off x="365760" y="2788920"/>
            <a:ext cx="1691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Approval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Layer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8"/>
          <p:cNvSpPr/>
          <p:nvPr/>
        </p:nvSpPr>
        <p:spPr>
          <a:xfrm>
            <a:off x="548640" y="34747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E096"/>
                </a:solidFill>
                <a:effectLst/>
                <a:uFillTx/>
                <a:latin typeface="Calibri"/>
              </a:rPr>
              <a:t>↓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9"/>
          <p:cNvSpPr/>
          <p:nvPr/>
        </p:nvSpPr>
        <p:spPr>
          <a:xfrm>
            <a:off x="365760" y="3840480"/>
            <a:ext cx="8412120" cy="548280"/>
          </a:xfrm>
          <a:prstGeom prst="rect">
            <a:avLst/>
          </a:prstGeom>
          <a:solidFill>
            <a:srgbClr val="00B478">
              <a:alpha val="18000"/>
            </a:srgbClr>
          </a:solidFill>
          <a:ln w="1524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0"/>
          <p:cNvSpPr/>
          <p:nvPr/>
        </p:nvSpPr>
        <p:spPr>
          <a:xfrm>
            <a:off x="365760" y="38404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📊  Paper Trading Sandbox  ·  approved_for_real = False  ·  No se ejecutan operaciones reales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1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5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06 · STACK TÉCNICO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Componentes Implementados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365760" y="132588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365760" y="1325880"/>
            <a:ext cx="54360" cy="77688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3"/>
          <a:stretch/>
        </p:blipFill>
        <p:spPr>
          <a:xfrm>
            <a:off x="548640" y="15087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5"/>
          <p:cNvSpPr/>
          <p:nvPr/>
        </p:nvSpPr>
        <p:spPr>
          <a:xfrm>
            <a:off x="1051560" y="14173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051560" y="17373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API REST asíncrona · Alta performance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4709160" y="132588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4709160" y="1325880"/>
            <a:ext cx="54360" cy="77688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1" descr="preencoded.png"/>
          <p:cNvPicPr/>
          <p:nvPr/>
        </p:nvPicPr>
        <p:blipFill>
          <a:blip r:embed="rId4"/>
          <a:stretch/>
        </p:blipFill>
        <p:spPr>
          <a:xfrm>
            <a:off x="4892040" y="15087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9"/>
          <p:cNvSpPr/>
          <p:nvPr/>
        </p:nvSpPr>
        <p:spPr>
          <a:xfrm>
            <a:off x="5394960" y="14173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78"/>
                </a:solidFill>
                <a:effectLst/>
                <a:uFillTx/>
                <a:latin typeface="Calibri"/>
                <a:ea typeface="Calibri"/>
              </a:rPr>
              <a:t>SQLite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5394960" y="17373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Persistencia de métricas y resultados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365760" y="222192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365760" y="2221920"/>
            <a:ext cx="54360" cy="7768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2" descr="preencoded.png"/>
          <p:cNvPicPr/>
          <p:nvPr/>
        </p:nvPicPr>
        <p:blipFill>
          <a:blip r:embed="rId5"/>
          <a:stretch/>
        </p:blipFill>
        <p:spPr>
          <a:xfrm>
            <a:off x="548640" y="24048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3"/>
          <p:cNvSpPr/>
          <p:nvPr/>
        </p:nvSpPr>
        <p:spPr>
          <a:xfrm>
            <a:off x="1051560" y="23133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Metrics Engine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1051560" y="2633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Sharpe, Drawdown, Win Rate, Profit Factor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5"/>
          <p:cNvSpPr/>
          <p:nvPr/>
        </p:nvSpPr>
        <p:spPr>
          <a:xfrm>
            <a:off x="4709160" y="222192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4709160" y="2221920"/>
            <a:ext cx="54360" cy="7768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3" descr="preencoded.png"/>
          <p:cNvPicPr/>
          <p:nvPr/>
        </p:nvPicPr>
        <p:blipFill>
          <a:blip r:embed="rId6"/>
          <a:stretch/>
        </p:blipFill>
        <p:spPr>
          <a:xfrm>
            <a:off x="4892040" y="24048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17"/>
          <p:cNvSpPr/>
          <p:nvPr/>
        </p:nvSpPr>
        <p:spPr>
          <a:xfrm>
            <a:off x="5394960" y="23133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Monte Carlo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5394960" y="2633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Simulación estadística que evalúa 10.000 escenarios posibles para cuantificar el riesgo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365760" y="311796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365760" y="3117960"/>
            <a:ext cx="54360" cy="776880"/>
          </a:xfrm>
          <a:prstGeom prst="rect">
            <a:avLst/>
          </a:prstGeom>
          <a:solidFill>
            <a:srgbClr val="00E0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4" descr="preencoded.png"/>
          <p:cNvPicPr/>
          <p:nvPr/>
        </p:nvPicPr>
        <p:blipFill>
          <a:blip r:embed="rId7"/>
          <a:stretch/>
        </p:blipFill>
        <p:spPr>
          <a:xfrm>
            <a:off x="548640" y="33008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21"/>
          <p:cNvSpPr/>
          <p:nvPr/>
        </p:nvSpPr>
        <p:spPr>
          <a:xfrm>
            <a:off x="1051560" y="32094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E096"/>
                </a:solidFill>
                <a:effectLst/>
                <a:uFillTx/>
                <a:latin typeface="Calibri"/>
                <a:ea typeface="Calibri"/>
              </a:rPr>
              <a:t>BacktestValidator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1051560" y="35294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Sistema que comprueba si los resultados históricos son fiables y no producto del azar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3"/>
          <p:cNvSpPr/>
          <p:nvPr/>
        </p:nvSpPr>
        <p:spPr>
          <a:xfrm>
            <a:off x="4709160" y="311796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4709160" y="3117960"/>
            <a:ext cx="54360" cy="77688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5" descr="preencoded.png"/>
          <p:cNvPicPr/>
          <p:nvPr/>
        </p:nvPicPr>
        <p:blipFill>
          <a:blip r:embed="rId8"/>
          <a:stretch/>
        </p:blipFill>
        <p:spPr>
          <a:xfrm>
            <a:off x="4892040" y="33008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25"/>
          <p:cNvSpPr/>
          <p:nvPr/>
        </p:nvSpPr>
        <p:spPr>
          <a:xfrm>
            <a:off x="5394960" y="32094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53E3E"/>
                </a:solidFill>
                <a:effectLst/>
                <a:uFillTx/>
                <a:latin typeface="Calibri"/>
                <a:ea typeface="Calibri"/>
              </a:rPr>
              <a:t>RiskEngine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5394960" y="35294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Motor de reglas que verifica automáticamente que una estrategia cumple los requisitos de seguridad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7"/>
          <p:cNvSpPr/>
          <p:nvPr/>
        </p:nvSpPr>
        <p:spPr>
          <a:xfrm>
            <a:off x="365760" y="401436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8"/>
          <p:cNvSpPr/>
          <p:nvPr/>
        </p:nvSpPr>
        <p:spPr>
          <a:xfrm>
            <a:off x="365760" y="4014360"/>
            <a:ext cx="54360" cy="7768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6" descr="preencoded.png"/>
          <p:cNvPicPr/>
          <p:nvPr/>
        </p:nvPicPr>
        <p:blipFill>
          <a:blip r:embed="rId9"/>
          <a:stretch/>
        </p:blipFill>
        <p:spPr>
          <a:xfrm>
            <a:off x="548640" y="4197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29"/>
          <p:cNvSpPr/>
          <p:nvPr/>
        </p:nvSpPr>
        <p:spPr>
          <a:xfrm>
            <a:off x="1051560" y="4105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AI Validator Contracts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1051560" y="44258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Asistente de análisis que aporta contexto pero no toma decisiones ni ejecuta operaciones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1"/>
          <p:cNvSpPr/>
          <p:nvPr/>
        </p:nvSpPr>
        <p:spPr>
          <a:xfrm>
            <a:off x="4709160" y="4014360"/>
            <a:ext cx="4114440" cy="77688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4709160" y="4014360"/>
            <a:ext cx="54360" cy="7768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7" descr="preencoded.png"/>
          <p:cNvPicPr/>
          <p:nvPr/>
        </p:nvPicPr>
        <p:blipFill>
          <a:blip r:embed="rId10"/>
          <a:stretch/>
        </p:blipFill>
        <p:spPr>
          <a:xfrm>
            <a:off x="4892040" y="4197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33"/>
          <p:cNvSpPr/>
          <p:nvPr/>
        </p:nvSpPr>
        <p:spPr>
          <a:xfrm>
            <a:off x="5394960" y="4105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SHA-256 Traceability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4"/>
          <p:cNvSpPr/>
          <p:nvPr/>
        </p:nvSpPr>
        <p:spPr>
          <a:xfrm>
            <a:off x="5394960" y="44258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Firma digital que garantiza la trazabilidad e inmutabilidad de cada decisión del pipeline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5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6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07 · MOTOR DE MÉTRICAS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Metrics Engine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365760" y="118872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Motor de cálculo de métricas financieras extraídas de reportes MT5 con validación matemática completa.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365760" y="171900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365760" y="1719000"/>
            <a:ext cx="2651400" cy="347040"/>
          </a:xfrm>
          <a:prstGeom prst="rect">
            <a:avLst/>
          </a:prstGeom>
          <a:solidFill>
            <a:srgbClr val="F59E0B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365760" y="17190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Sharpe Ratio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365760" y="21031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E[R] / σ[R]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45720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Rentabilidad ajustada al riesgo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3200400" y="171900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3200400" y="1719000"/>
            <a:ext cx="2651400" cy="347040"/>
          </a:xfrm>
          <a:prstGeom prst="rect">
            <a:avLst/>
          </a:prstGeom>
          <a:solidFill>
            <a:srgbClr val="E53E3E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3200400" y="17190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53E3E"/>
                </a:solidFill>
                <a:effectLst/>
                <a:uFillTx/>
                <a:latin typeface="Calibri"/>
                <a:ea typeface="Calibri"/>
              </a:rPr>
              <a:t>Max Drawdown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3200400" y="21031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max(peak - trough)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329184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Pérdida máxima histórica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6035040" y="171900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6035040" y="1719000"/>
            <a:ext cx="2651400" cy="347040"/>
          </a:xfrm>
          <a:prstGeom prst="rect">
            <a:avLst/>
          </a:prstGeom>
          <a:solidFill>
            <a:srgbClr val="00E096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6035040" y="17190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E096"/>
                </a:solidFill>
                <a:effectLst/>
                <a:uFillTx/>
                <a:latin typeface="Calibri"/>
                <a:ea typeface="Calibri"/>
              </a:rPr>
              <a:t>Win Rate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6035040" y="21031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wins / total_trades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612648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Porcentaje de operaciones ganadoras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9"/>
          <p:cNvSpPr/>
          <p:nvPr/>
        </p:nvSpPr>
        <p:spPr>
          <a:xfrm>
            <a:off x="365760" y="313632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365760" y="3136320"/>
            <a:ext cx="2651400" cy="347040"/>
          </a:xfrm>
          <a:prstGeom prst="rect">
            <a:avLst/>
          </a:prstGeom>
          <a:solidFill>
            <a:srgbClr val="FF8C42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365760" y="3136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Profit Factor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365760" y="35204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gross_profit / gross_loss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457200" y="397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Relación beneficio / pérdida bruta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4"/>
          <p:cNvSpPr/>
          <p:nvPr/>
        </p:nvSpPr>
        <p:spPr>
          <a:xfrm>
            <a:off x="3200400" y="313632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5"/>
          <p:cNvSpPr/>
          <p:nvPr/>
        </p:nvSpPr>
        <p:spPr>
          <a:xfrm>
            <a:off x="3200400" y="3136320"/>
            <a:ext cx="2651400" cy="347040"/>
          </a:xfrm>
          <a:prstGeom prst="rect">
            <a:avLst/>
          </a:prstGeom>
          <a:solidFill>
            <a:srgbClr val="4DA8FF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3200400" y="3136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Expected Payoff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3200400" y="35204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avg_win×wr - avg_loss×lr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8"/>
          <p:cNvSpPr/>
          <p:nvPr/>
        </p:nvSpPr>
        <p:spPr>
          <a:xfrm>
            <a:off x="3291840" y="397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Ganancia esperada por operación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6035040" y="3136320"/>
            <a:ext cx="2651400" cy="1279800"/>
          </a:xfrm>
          <a:prstGeom prst="rect">
            <a:avLst/>
          </a:prstGeom>
          <a:solidFill>
            <a:srgbClr val="0F2040"/>
          </a:solidFill>
          <a:ln w="762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0"/>
          <p:cNvSpPr/>
          <p:nvPr/>
        </p:nvSpPr>
        <p:spPr>
          <a:xfrm>
            <a:off x="6035040" y="3136320"/>
            <a:ext cx="2651400" cy="347040"/>
          </a:xfrm>
          <a:prstGeom prst="rect">
            <a:avLst/>
          </a:prstGeom>
          <a:solidFill>
            <a:srgbClr val="A78BFA">
              <a:alpha val="1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6035040" y="3136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Recovery Factor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2"/>
          <p:cNvSpPr/>
          <p:nvPr/>
        </p:nvSpPr>
        <p:spPr>
          <a:xfrm>
            <a:off x="6035040" y="35204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net_profit / max_drawdown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3"/>
          <p:cNvSpPr/>
          <p:nvPr/>
        </p:nvSpPr>
        <p:spPr>
          <a:xfrm>
            <a:off x="6126480" y="39776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Capacidad de recuperación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4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7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08 · MONTE CARLO &amp; RISK OF RUIN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Simulación &amp; Análisis de Ruina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"/>
          <p:cNvSpPr/>
          <p:nvPr/>
        </p:nvSpPr>
        <p:spPr>
          <a:xfrm>
            <a:off x="365760" y="1234440"/>
            <a:ext cx="4023000" cy="356580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365760" y="1234440"/>
            <a:ext cx="54360" cy="35658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502920" y="132588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Monte Carlo Engine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530280" y="1810440"/>
            <a:ext cx="1005480" cy="365400"/>
          </a:xfrm>
          <a:prstGeom prst="rect">
            <a:avLst/>
          </a:prstGeom>
          <a:solidFill>
            <a:srgbClr val="FF8C42">
              <a:alpha val="18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530280" y="18104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10,000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627560" y="18104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simulaciones por estrategia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530280" y="2340720"/>
            <a:ext cx="1005480" cy="365400"/>
          </a:xfrm>
          <a:prstGeom prst="rect">
            <a:avLst/>
          </a:prstGeom>
          <a:solidFill>
            <a:srgbClr val="FF8C42">
              <a:alpha val="18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530280" y="23407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Bootstrap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1627560" y="23407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resmuestreo de trades reales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2"/>
          <p:cNvSpPr/>
          <p:nvPr/>
        </p:nvSpPr>
        <p:spPr>
          <a:xfrm>
            <a:off x="530280" y="2871360"/>
            <a:ext cx="1005480" cy="365400"/>
          </a:xfrm>
          <a:prstGeom prst="rect">
            <a:avLst/>
          </a:prstGeom>
          <a:solidFill>
            <a:srgbClr val="FF8C42">
              <a:alpha val="18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3"/>
          <p:cNvSpPr/>
          <p:nvPr/>
        </p:nvSpPr>
        <p:spPr>
          <a:xfrm>
            <a:off x="530280" y="28713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Distribución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4"/>
          <p:cNvSpPr/>
          <p:nvPr/>
        </p:nvSpPr>
        <p:spPr>
          <a:xfrm>
            <a:off x="1627560" y="287136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de equity curves generadas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5"/>
          <p:cNvSpPr/>
          <p:nvPr/>
        </p:nvSpPr>
        <p:spPr>
          <a:xfrm>
            <a:off x="530280" y="3401640"/>
            <a:ext cx="1005480" cy="365400"/>
          </a:xfrm>
          <a:prstGeom prst="rect">
            <a:avLst/>
          </a:prstGeom>
          <a:solidFill>
            <a:srgbClr val="FF8C42">
              <a:alpha val="18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6"/>
          <p:cNvSpPr/>
          <p:nvPr/>
        </p:nvSpPr>
        <p:spPr>
          <a:xfrm>
            <a:off x="530280" y="34016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Percentil 5%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7"/>
          <p:cNvSpPr/>
          <p:nvPr/>
        </p:nvSpPr>
        <p:spPr>
          <a:xfrm>
            <a:off x="1627560" y="3401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escenario pesimista de referencia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530280" y="3931920"/>
            <a:ext cx="1005480" cy="365400"/>
          </a:xfrm>
          <a:prstGeom prst="rect">
            <a:avLst/>
          </a:prstGeom>
          <a:solidFill>
            <a:srgbClr val="FF8C42">
              <a:alpha val="18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530280" y="3931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Percentil 95%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1627560" y="39319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escenario optimista de referencia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1"/>
          <p:cNvSpPr/>
          <p:nvPr/>
        </p:nvSpPr>
        <p:spPr>
          <a:xfrm>
            <a:off x="4663440" y="1234440"/>
            <a:ext cx="4114440" cy="3565800"/>
          </a:xfrm>
          <a:prstGeom prst="rect">
            <a:avLst/>
          </a:prstGeom>
          <a:solidFill>
            <a:srgbClr val="0F2040"/>
          </a:solidFill>
          <a:ln w="635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2"/>
          <p:cNvSpPr/>
          <p:nvPr/>
        </p:nvSpPr>
        <p:spPr>
          <a:xfrm>
            <a:off x="4663440" y="1234440"/>
            <a:ext cx="54360" cy="356580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3"/>
          <p:cNvSpPr/>
          <p:nvPr/>
        </p:nvSpPr>
        <p:spPr>
          <a:xfrm>
            <a:off x="4800600" y="13258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53E3E"/>
                </a:solidFill>
                <a:effectLst/>
                <a:uFillTx/>
                <a:latin typeface="Calibri"/>
                <a:ea typeface="Calibri"/>
              </a:rPr>
              <a:t>Risk of Ruin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0" descr="preencoded.png"/>
          <p:cNvPicPr/>
          <p:nvPr/>
        </p:nvPicPr>
        <p:blipFill>
          <a:blip r:embed="rId3"/>
          <a:stretch/>
        </p:blipFill>
        <p:spPr>
          <a:xfrm>
            <a:off x="4800600" y="18288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24"/>
          <p:cNvSpPr/>
          <p:nvPr/>
        </p:nvSpPr>
        <p:spPr>
          <a:xfrm>
            <a:off x="5120640" y="1801440"/>
            <a:ext cx="3520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Probabilidad de pérdida total del capital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 1" descr="preencoded.png"/>
          <p:cNvPicPr/>
          <p:nvPr/>
        </p:nvPicPr>
        <p:blipFill>
          <a:blip r:embed="rId3"/>
          <a:stretch/>
        </p:blipFill>
        <p:spPr>
          <a:xfrm>
            <a:off x="4800600" y="2359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 25"/>
          <p:cNvSpPr/>
          <p:nvPr/>
        </p:nvSpPr>
        <p:spPr>
          <a:xfrm>
            <a:off x="5120640" y="2331720"/>
            <a:ext cx="3520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Función de umbral configurable por estrategia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2" descr="preencoded.png"/>
          <p:cNvPicPr/>
          <p:nvPr/>
        </p:nvPicPr>
        <p:blipFill>
          <a:blip r:embed="rId3"/>
          <a:stretch/>
        </p:blipFill>
        <p:spPr>
          <a:xfrm>
            <a:off x="4800600" y="28893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26"/>
          <p:cNvSpPr/>
          <p:nvPr/>
        </p:nvSpPr>
        <p:spPr>
          <a:xfrm>
            <a:off x="5120640" y="2862000"/>
            <a:ext cx="3520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Validado contra datos históricos de MT5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3" descr="preencoded.png"/>
          <p:cNvPicPr/>
          <p:nvPr/>
        </p:nvPicPr>
        <p:blipFill>
          <a:blip r:embed="rId3"/>
          <a:stretch/>
        </p:blipFill>
        <p:spPr>
          <a:xfrm>
            <a:off x="4800600" y="34200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7"/>
          <p:cNvSpPr/>
          <p:nvPr/>
        </p:nvSpPr>
        <p:spPr>
          <a:xfrm>
            <a:off x="5120640" y="3392280"/>
            <a:ext cx="3520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Gate de aprobación: RoR &lt; umbral definido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4" descr="preencoded.png"/>
          <p:cNvPicPr/>
          <p:nvPr/>
        </p:nvPicPr>
        <p:blipFill>
          <a:blip r:embed="rId3"/>
          <a:stretch/>
        </p:blipFill>
        <p:spPr>
          <a:xfrm>
            <a:off x="4800600" y="3950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28"/>
          <p:cNvSpPr/>
          <p:nvPr/>
        </p:nvSpPr>
        <p:spPr>
          <a:xfrm>
            <a:off x="5120640" y="3922920"/>
            <a:ext cx="35200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Resultados auditables con hash SHA-256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9"/>
          <p:cNvSpPr/>
          <p:nvPr/>
        </p:nvSpPr>
        <p:spPr>
          <a:xfrm>
            <a:off x="365760" y="4754880"/>
            <a:ext cx="8412120" cy="228240"/>
          </a:xfrm>
          <a:prstGeom prst="rect">
            <a:avLst/>
          </a:prstGeom>
          <a:solidFill>
            <a:srgbClr val="FF8C42">
              <a:alpha val="12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0"/>
          <p:cNvSpPr/>
          <p:nvPr/>
        </p:nvSpPr>
        <p:spPr>
          <a:xfrm>
            <a:off x="365760" y="47548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Si Risk of Ruin supera el umbral → estrategia RECHAZADA automáticamente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1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8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09 · VALIDACIÓN &amp; BACKTESTING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BacktestValidator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365760" y="118872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Garantiza que los resultados históricos son estadísticamente significativos y no producto del azar o sobreajuste.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365760" y="171900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0" descr="preencoded.png"/>
          <p:cNvPicPr/>
          <p:nvPr/>
        </p:nvPicPr>
        <p:blipFill>
          <a:blip r:embed="rId3"/>
          <a:stretch/>
        </p:blipFill>
        <p:spPr>
          <a:xfrm>
            <a:off x="502920" y="18561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Shape 5"/>
          <p:cNvSpPr/>
          <p:nvPr/>
        </p:nvSpPr>
        <p:spPr>
          <a:xfrm>
            <a:off x="914400" y="182880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914400" y="182880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1463040" y="179208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Mínimo de Trades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502920" y="21945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Requiere n ≥ 30 operaciones para validez estadística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9"/>
          <p:cNvSpPr/>
          <p:nvPr/>
        </p:nvSpPr>
        <p:spPr>
          <a:xfrm>
            <a:off x="4709160" y="171900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1" name="Image 1" descr="preencoded.png"/>
          <p:cNvPicPr/>
          <p:nvPr/>
        </p:nvPicPr>
        <p:blipFill>
          <a:blip r:embed="rId3"/>
          <a:stretch/>
        </p:blipFill>
        <p:spPr>
          <a:xfrm>
            <a:off x="4846320" y="18561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Shape 10"/>
          <p:cNvSpPr/>
          <p:nvPr/>
        </p:nvSpPr>
        <p:spPr>
          <a:xfrm>
            <a:off x="5257800" y="182880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1"/>
          <p:cNvSpPr/>
          <p:nvPr/>
        </p:nvSpPr>
        <p:spPr>
          <a:xfrm>
            <a:off x="5257800" y="182880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5806440" y="179208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Significancia Estadística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3"/>
          <p:cNvSpPr/>
          <p:nvPr/>
        </p:nvSpPr>
        <p:spPr>
          <a:xfrm>
            <a:off x="4846320" y="21945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Test t de Student sobre la distribución de retornos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365760" y="277056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2" descr="preencoded.png"/>
          <p:cNvPicPr/>
          <p:nvPr/>
        </p:nvPicPr>
        <p:blipFill>
          <a:blip r:embed="rId3"/>
          <a:stretch/>
        </p:blipFill>
        <p:spPr>
          <a:xfrm>
            <a:off x="502920" y="2907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Shape 15"/>
          <p:cNvSpPr/>
          <p:nvPr/>
        </p:nvSpPr>
        <p:spPr>
          <a:xfrm>
            <a:off x="914400" y="288036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914400" y="288036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1463040" y="28436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Sesgo de Supervivencia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8"/>
          <p:cNvSpPr/>
          <p:nvPr/>
        </p:nvSpPr>
        <p:spPr>
          <a:xfrm>
            <a:off x="502920" y="324612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Detección de curva de equity artificialmente suavizada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4709160" y="277056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3" descr="preencoded.png"/>
          <p:cNvPicPr/>
          <p:nvPr/>
        </p:nvPicPr>
        <p:blipFill>
          <a:blip r:embed="rId3"/>
          <a:stretch/>
        </p:blipFill>
        <p:spPr>
          <a:xfrm>
            <a:off x="4846320" y="2907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Shape 20"/>
          <p:cNvSpPr/>
          <p:nvPr/>
        </p:nvSpPr>
        <p:spPr>
          <a:xfrm>
            <a:off x="5257800" y="288036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5257800" y="288036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5806440" y="28436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Overfitting Check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4846320" y="324612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Ratio in-sample vs out-of-sample performance decay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4"/>
          <p:cNvSpPr/>
          <p:nvPr/>
        </p:nvSpPr>
        <p:spPr>
          <a:xfrm>
            <a:off x="365760" y="382212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4" descr="preencoded.png"/>
          <p:cNvPicPr/>
          <p:nvPr/>
        </p:nvPicPr>
        <p:blipFill>
          <a:blip r:embed="rId3"/>
          <a:stretch/>
        </p:blipFill>
        <p:spPr>
          <a:xfrm>
            <a:off x="502920" y="39592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Shape 25"/>
          <p:cNvSpPr/>
          <p:nvPr/>
        </p:nvSpPr>
        <p:spPr>
          <a:xfrm>
            <a:off x="914400" y="393192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914400" y="39319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1463040" y="38952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Consistencia Temporal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502920" y="42976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Validación sobre múltiples períodos de mercado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9"/>
          <p:cNvSpPr/>
          <p:nvPr/>
        </p:nvSpPr>
        <p:spPr>
          <a:xfrm>
            <a:off x="4709160" y="3822120"/>
            <a:ext cx="4114440" cy="91404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5" descr="preencoded.png"/>
          <p:cNvPicPr/>
          <p:nvPr/>
        </p:nvPicPr>
        <p:blipFill>
          <a:blip r:embed="rId3"/>
          <a:stretch/>
        </p:blipFill>
        <p:spPr>
          <a:xfrm>
            <a:off x="4846320" y="39592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Shape 30"/>
          <p:cNvSpPr/>
          <p:nvPr/>
        </p:nvSpPr>
        <p:spPr>
          <a:xfrm>
            <a:off x="5257800" y="3931920"/>
            <a:ext cx="456840" cy="237240"/>
          </a:xfrm>
          <a:prstGeom prst="rect">
            <a:avLst/>
          </a:prstGeom>
          <a:solidFill>
            <a:srgbClr val="00E096">
              <a:alpha val="20000"/>
            </a:srgbClr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1"/>
          <p:cNvSpPr/>
          <p:nvPr/>
        </p:nvSpPr>
        <p:spPr>
          <a:xfrm>
            <a:off x="5257800" y="393192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PASS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2"/>
          <p:cNvSpPr/>
          <p:nvPr/>
        </p:nvSpPr>
        <p:spPr>
          <a:xfrm>
            <a:off x="5806440" y="38952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Trade Distribution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3"/>
          <p:cNvSpPr/>
          <p:nvPr/>
        </p:nvSpPr>
        <p:spPr>
          <a:xfrm>
            <a:off x="4846320" y="429768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Análisis de outliers y dependencia entre trades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4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9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10 · AI VALIDATOR CONTRACTS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 Supervisado de la Inteligencia Artificial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365760" y="1261800"/>
            <a:ext cx="3840120" cy="3474360"/>
          </a:xfrm>
          <a:prstGeom prst="rect">
            <a:avLst/>
          </a:prstGeom>
          <a:solidFill>
            <a:srgbClr val="0F2040"/>
          </a:solidFill>
          <a:ln w="101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365760" y="1261800"/>
            <a:ext cx="3840120" cy="383760"/>
          </a:xfrm>
          <a:prstGeom prst="rect">
            <a:avLst/>
          </a:prstGeom>
          <a:solidFill>
            <a:srgbClr val="7C3AED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Image 0" descr="preencoded.png"/>
          <p:cNvPicPr/>
          <p:nvPr/>
        </p:nvPicPr>
        <p:blipFill>
          <a:blip r:embed="rId3"/>
          <a:stretch/>
        </p:blipFill>
        <p:spPr>
          <a:xfrm>
            <a:off x="640080" y="13075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5"/>
          <p:cNvSpPr/>
          <p:nvPr/>
        </p:nvSpPr>
        <p:spPr>
          <a:xfrm>
            <a:off x="1005840" y="126180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IA — Rol Asesor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1" descr="preencoded.png"/>
          <p:cNvPicPr/>
          <p:nvPr/>
        </p:nvPicPr>
        <p:blipFill>
          <a:blip r:embed="rId4"/>
          <a:stretch/>
        </p:blipFill>
        <p:spPr>
          <a:xfrm>
            <a:off x="530280" y="18288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6"/>
          <p:cNvSpPr/>
          <p:nvPr/>
        </p:nvSpPr>
        <p:spPr>
          <a:xfrm>
            <a:off x="841320" y="180144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Analiza el conjunto de métricas calculadas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2" descr="preencoded.png"/>
          <p:cNvPicPr/>
          <p:nvPr/>
        </p:nvPicPr>
        <p:blipFill>
          <a:blip r:embed="rId4"/>
          <a:stretch/>
        </p:blipFill>
        <p:spPr>
          <a:xfrm>
            <a:off x="530280" y="23590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7"/>
          <p:cNvSpPr/>
          <p:nvPr/>
        </p:nvSpPr>
        <p:spPr>
          <a:xfrm>
            <a:off x="841320" y="233172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Genera recomendación fundamentada con score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3" descr="preencoded.png"/>
          <p:cNvPicPr/>
          <p:nvPr/>
        </p:nvPicPr>
        <p:blipFill>
          <a:blip r:embed="rId4"/>
          <a:stretch/>
        </p:blipFill>
        <p:spPr>
          <a:xfrm>
            <a:off x="530280" y="28893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8"/>
          <p:cNvSpPr/>
          <p:nvPr/>
        </p:nvSpPr>
        <p:spPr>
          <a:xfrm>
            <a:off x="841320" y="2862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Identifica patrones de riesgo en la estrategia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4" descr="preencoded.png"/>
          <p:cNvPicPr/>
          <p:nvPr/>
        </p:nvPicPr>
        <p:blipFill>
          <a:blip r:embed="rId4"/>
          <a:stretch/>
        </p:blipFill>
        <p:spPr>
          <a:xfrm>
            <a:off x="530280" y="34200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9"/>
          <p:cNvSpPr/>
          <p:nvPr/>
        </p:nvSpPr>
        <p:spPr>
          <a:xfrm>
            <a:off x="841320" y="339228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Emite informe estructurado para revisión humana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Image 5" descr="preencoded.png"/>
          <p:cNvPicPr/>
          <p:nvPr/>
        </p:nvPicPr>
        <p:blipFill>
          <a:blip r:embed="rId4"/>
          <a:stretch/>
        </p:blipFill>
        <p:spPr>
          <a:xfrm>
            <a:off x="530280" y="39502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10"/>
          <p:cNvSpPr/>
          <p:nvPr/>
        </p:nvSpPr>
        <p:spPr>
          <a:xfrm>
            <a:off x="841320" y="392292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Sugiere parámetros de mejora (no los aplica)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1"/>
          <p:cNvSpPr/>
          <p:nvPr/>
        </p:nvSpPr>
        <p:spPr>
          <a:xfrm>
            <a:off x="4572000" y="1261800"/>
            <a:ext cx="4205880" cy="3474360"/>
          </a:xfrm>
          <a:prstGeom prst="rect">
            <a:avLst/>
          </a:prstGeom>
          <a:solidFill>
            <a:srgbClr val="0F2040"/>
          </a:solidFill>
          <a:ln w="1016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2"/>
          <p:cNvSpPr/>
          <p:nvPr/>
        </p:nvSpPr>
        <p:spPr>
          <a:xfrm>
            <a:off x="4572000" y="1261800"/>
            <a:ext cx="4205880" cy="383760"/>
          </a:xfrm>
          <a:prstGeom prst="rect">
            <a:avLst/>
          </a:prstGeom>
          <a:solidFill>
            <a:srgbClr val="E53E3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6" descr="preencoded.png"/>
          <p:cNvPicPr/>
          <p:nvPr/>
        </p:nvPicPr>
        <p:blipFill>
          <a:blip r:embed="rId5"/>
          <a:stretch/>
        </p:blipFill>
        <p:spPr>
          <a:xfrm>
            <a:off x="4846320" y="13075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13"/>
          <p:cNvSpPr/>
          <p:nvPr/>
        </p:nvSpPr>
        <p:spPr>
          <a:xfrm>
            <a:off x="5212080" y="126180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53E3E"/>
                </a:solidFill>
                <a:effectLst/>
                <a:uFillTx/>
                <a:latin typeface="Calibri"/>
                <a:ea typeface="Calibri"/>
              </a:rPr>
              <a:t>IA — Lo que NO puede hacer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7" descr="preencoded.png"/>
          <p:cNvPicPr/>
          <p:nvPr/>
        </p:nvPicPr>
        <p:blipFill>
          <a:blip r:embed="rId6"/>
          <a:stretch/>
        </p:blipFill>
        <p:spPr>
          <a:xfrm>
            <a:off x="4736520" y="18288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14"/>
          <p:cNvSpPr/>
          <p:nvPr/>
        </p:nvSpPr>
        <p:spPr>
          <a:xfrm>
            <a:off x="5047560" y="180144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Tomar decisiones de trading por sí sola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4" name="Image 8" descr="preencoded.png"/>
          <p:cNvPicPr/>
          <p:nvPr/>
        </p:nvPicPr>
        <p:blipFill>
          <a:blip r:embed="rId6"/>
          <a:stretch/>
        </p:blipFill>
        <p:spPr>
          <a:xfrm>
            <a:off x="4736520" y="23590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15"/>
          <p:cNvSpPr/>
          <p:nvPr/>
        </p:nvSpPr>
        <p:spPr>
          <a:xfrm>
            <a:off x="5047560" y="233172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Modificar approved_for_real a True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 9" descr="preencoded.png"/>
          <p:cNvPicPr/>
          <p:nvPr/>
        </p:nvPicPr>
        <p:blipFill>
          <a:blip r:embed="rId6"/>
          <a:stretch/>
        </p:blipFill>
        <p:spPr>
          <a:xfrm>
            <a:off x="4736520" y="28893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16"/>
          <p:cNvSpPr/>
          <p:nvPr/>
        </p:nvSpPr>
        <p:spPr>
          <a:xfrm>
            <a:off x="5047560" y="28620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Ejecutar o simular órdenes reales en MT5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10" descr="preencoded.png"/>
          <p:cNvPicPr/>
          <p:nvPr/>
        </p:nvPicPr>
        <p:blipFill>
          <a:blip r:embed="rId6"/>
          <a:stretch/>
        </p:blipFill>
        <p:spPr>
          <a:xfrm>
            <a:off x="4736520" y="34200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7"/>
          <p:cNvSpPr/>
          <p:nvPr/>
        </p:nvSpPr>
        <p:spPr>
          <a:xfrm>
            <a:off x="5047560" y="339228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Sobreescribir los resultados del RiskEngine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11" descr="preencoded.png"/>
          <p:cNvPicPr/>
          <p:nvPr/>
        </p:nvPicPr>
        <p:blipFill>
          <a:blip r:embed="rId6"/>
          <a:stretch/>
        </p:blipFill>
        <p:spPr>
          <a:xfrm>
            <a:off x="4736520" y="39502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18"/>
          <p:cNvSpPr/>
          <p:nvPr/>
        </p:nvSpPr>
        <p:spPr>
          <a:xfrm>
            <a:off x="5047560" y="392292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Saltarse la capa obligatoria de aprobación humana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365760" y="4773240"/>
            <a:ext cx="8412120" cy="219240"/>
          </a:xfrm>
          <a:prstGeom prst="rect">
            <a:avLst/>
          </a:prstGeom>
          <a:solidFill>
            <a:srgbClr val="A78BFA">
              <a:alpha val="12000"/>
            </a:srgbClr>
          </a:solidFill>
          <a:ln w="63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0"/>
          <p:cNvSpPr/>
          <p:nvPr/>
        </p:nvSpPr>
        <p:spPr>
          <a:xfrm>
            <a:off x="365760" y="4773240"/>
            <a:ext cx="8412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💡 La IA analiza. El RiskEngine valida. El humano decide.  ·  AI Validator Contract: rol, límites y obligaciones de la IA definidos en código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1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10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11 · INVARIANTES DE SEGURIDAD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Garantías de Seguridad No Negociables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365760" y="129852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365760" y="1298520"/>
            <a:ext cx="54360" cy="52992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548640" y="129852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⊘  approved_for_real = False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4572000" y="129852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Ninguna estrategia puede ser marcada para ejecución real sin proceso completo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365760" y="192024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365760" y="1920240"/>
            <a:ext cx="54360" cy="529920"/>
          </a:xfrm>
          <a:prstGeom prst="rect">
            <a:avLst/>
          </a:prstGeom>
          <a:solidFill>
            <a:srgbClr val="E53E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548640" y="192024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⊘  ALLOW_REAL_EXECUTION = False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4572000" y="192024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Flag global que bloquea toda ejecución real a nivel de sistema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365760" y="254196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365760" y="2541960"/>
            <a:ext cx="54360" cy="529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3"/>
          <p:cNvSpPr/>
          <p:nvPr/>
        </p:nvSpPr>
        <p:spPr>
          <a:xfrm>
            <a:off x="548640" y="254196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⊘  La IA no decide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4"/>
          <p:cNvSpPr/>
          <p:nvPr/>
        </p:nvSpPr>
        <p:spPr>
          <a:xfrm>
            <a:off x="4572000" y="254196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La IA genera análisis; la decisión final es exclusivamente humana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5"/>
          <p:cNvSpPr/>
          <p:nvPr/>
        </p:nvSpPr>
        <p:spPr>
          <a:xfrm>
            <a:off x="365760" y="316368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6"/>
          <p:cNvSpPr/>
          <p:nvPr/>
        </p:nvSpPr>
        <p:spPr>
          <a:xfrm>
            <a:off x="365760" y="3163680"/>
            <a:ext cx="54360" cy="52992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7"/>
          <p:cNvSpPr/>
          <p:nvPr/>
        </p:nvSpPr>
        <p:spPr>
          <a:xfrm>
            <a:off x="548640" y="316368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⊘  La IA no ejecuta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8"/>
          <p:cNvSpPr/>
          <p:nvPr/>
        </p:nvSpPr>
        <p:spPr>
          <a:xfrm>
            <a:off x="4572000" y="316368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Ningún componente de IA tiene acceso a conectores de ejecución real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9"/>
          <p:cNvSpPr/>
          <p:nvPr/>
        </p:nvSpPr>
        <p:spPr>
          <a:xfrm>
            <a:off x="365760" y="378576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0"/>
          <p:cNvSpPr/>
          <p:nvPr/>
        </p:nvSpPr>
        <p:spPr>
          <a:xfrm>
            <a:off x="365760" y="3785760"/>
            <a:ext cx="54360" cy="5299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1"/>
          <p:cNvSpPr/>
          <p:nvPr/>
        </p:nvSpPr>
        <p:spPr>
          <a:xfrm>
            <a:off x="548640" y="378576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⊘  RiskEngine obligatorio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2"/>
          <p:cNvSpPr/>
          <p:nvPr/>
        </p:nvSpPr>
        <p:spPr>
          <a:xfrm>
            <a:off x="4572000" y="378576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Toda estrategia debe pasar el RiskEngine antes de cualquier aprobación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3"/>
          <p:cNvSpPr/>
          <p:nvPr/>
        </p:nvSpPr>
        <p:spPr>
          <a:xfrm>
            <a:off x="365760" y="4407480"/>
            <a:ext cx="8412120" cy="529920"/>
          </a:xfrm>
          <a:prstGeom prst="rect">
            <a:avLst/>
          </a:prstGeom>
          <a:solidFill>
            <a:srgbClr val="0F2040"/>
          </a:solidFill>
          <a:ln w="635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4"/>
          <p:cNvSpPr/>
          <p:nvPr/>
        </p:nvSpPr>
        <p:spPr>
          <a:xfrm>
            <a:off x="365760" y="4407480"/>
            <a:ext cx="54360" cy="529920"/>
          </a:xfrm>
          <a:prstGeom prst="rect">
            <a:avLst/>
          </a:prstGeom>
          <a:solidFill>
            <a:srgbClr val="00E0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5"/>
          <p:cNvSpPr/>
          <p:nvPr/>
        </p:nvSpPr>
        <p:spPr>
          <a:xfrm>
            <a:off x="548640" y="440748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⊘  Aprobación humana obligatoria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6"/>
          <p:cNvSpPr/>
          <p:nvPr/>
        </p:nvSpPr>
        <p:spPr>
          <a:xfrm>
            <a:off x="4572000" y="4407480"/>
            <a:ext cx="4114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Ningún proceso automatizado puede completar el Approval Layer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7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11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12 · TRAZABILIDAD SHA-256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Auditoría Criptográfica del Pipeline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365760" y="11703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Cada paso del pipeline genera un hash SHA-256 que garantiza la integridad y trazabilidad de los resultados.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36576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365760" y="1664280"/>
            <a:ext cx="1096920" cy="292320"/>
          </a:xfrm>
          <a:prstGeom prst="rect">
            <a:avLst/>
          </a:prstGeom>
          <a:solidFill>
            <a:srgbClr val="4DA8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36576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MT5 Input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36576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8"/>
          <p:cNvSpPr/>
          <p:nvPr/>
        </p:nvSpPr>
        <p:spPr>
          <a:xfrm>
            <a:off x="41148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a3f8c2d1...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9"/>
          <p:cNvSpPr/>
          <p:nvPr/>
        </p:nvSpPr>
        <p:spPr>
          <a:xfrm>
            <a:off x="146304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160020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1"/>
          <p:cNvSpPr/>
          <p:nvPr/>
        </p:nvSpPr>
        <p:spPr>
          <a:xfrm>
            <a:off x="1600200" y="1664280"/>
            <a:ext cx="1096920" cy="292320"/>
          </a:xfrm>
          <a:prstGeom prst="rect">
            <a:avLst/>
          </a:prstGeom>
          <a:solidFill>
            <a:srgbClr val="00B478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160020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Métricas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3"/>
          <p:cNvSpPr/>
          <p:nvPr/>
        </p:nvSpPr>
        <p:spPr>
          <a:xfrm>
            <a:off x="160020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4"/>
          <p:cNvSpPr/>
          <p:nvPr/>
        </p:nvSpPr>
        <p:spPr>
          <a:xfrm>
            <a:off x="164592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7b9e4f2a...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269748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6"/>
          <p:cNvSpPr/>
          <p:nvPr/>
        </p:nvSpPr>
        <p:spPr>
          <a:xfrm>
            <a:off x="283464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7"/>
          <p:cNvSpPr/>
          <p:nvPr/>
        </p:nvSpPr>
        <p:spPr>
          <a:xfrm>
            <a:off x="2834640" y="1664280"/>
            <a:ext cx="1096920" cy="292320"/>
          </a:xfrm>
          <a:prstGeom prst="rect">
            <a:avLst/>
          </a:prstGeom>
          <a:solidFill>
            <a:srgbClr val="FF8C42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8"/>
          <p:cNvSpPr/>
          <p:nvPr/>
        </p:nvSpPr>
        <p:spPr>
          <a:xfrm>
            <a:off x="283464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Monte Carlo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9"/>
          <p:cNvSpPr/>
          <p:nvPr/>
        </p:nvSpPr>
        <p:spPr>
          <a:xfrm>
            <a:off x="283464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288036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2c1d8e5b...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393192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2"/>
          <p:cNvSpPr/>
          <p:nvPr/>
        </p:nvSpPr>
        <p:spPr>
          <a:xfrm>
            <a:off x="406908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3"/>
          <p:cNvSpPr/>
          <p:nvPr/>
        </p:nvSpPr>
        <p:spPr>
          <a:xfrm>
            <a:off x="4069080" y="1664280"/>
            <a:ext cx="1096920" cy="29232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4"/>
          <p:cNvSpPr/>
          <p:nvPr/>
        </p:nvSpPr>
        <p:spPr>
          <a:xfrm>
            <a:off x="406908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BacktestVal.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5"/>
          <p:cNvSpPr/>
          <p:nvPr/>
        </p:nvSpPr>
        <p:spPr>
          <a:xfrm>
            <a:off x="406908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6"/>
          <p:cNvSpPr/>
          <p:nvPr/>
        </p:nvSpPr>
        <p:spPr>
          <a:xfrm>
            <a:off x="411480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f4a7b3c9...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7"/>
          <p:cNvSpPr/>
          <p:nvPr/>
        </p:nvSpPr>
        <p:spPr>
          <a:xfrm>
            <a:off x="516636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8"/>
          <p:cNvSpPr/>
          <p:nvPr/>
        </p:nvSpPr>
        <p:spPr>
          <a:xfrm>
            <a:off x="530352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9"/>
          <p:cNvSpPr/>
          <p:nvPr/>
        </p:nvSpPr>
        <p:spPr>
          <a:xfrm>
            <a:off x="5303520" y="1664280"/>
            <a:ext cx="1096920" cy="292320"/>
          </a:xfrm>
          <a:prstGeom prst="rect">
            <a:avLst/>
          </a:prstGeom>
          <a:solidFill>
            <a:srgbClr val="E53E3E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0"/>
          <p:cNvSpPr/>
          <p:nvPr/>
        </p:nvSpPr>
        <p:spPr>
          <a:xfrm>
            <a:off x="530352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RiskEngine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1"/>
          <p:cNvSpPr/>
          <p:nvPr/>
        </p:nvSpPr>
        <p:spPr>
          <a:xfrm>
            <a:off x="530352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2"/>
          <p:cNvSpPr/>
          <p:nvPr/>
        </p:nvSpPr>
        <p:spPr>
          <a:xfrm>
            <a:off x="534924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9d2e6f1c...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3"/>
          <p:cNvSpPr/>
          <p:nvPr/>
        </p:nvSpPr>
        <p:spPr>
          <a:xfrm>
            <a:off x="640080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4"/>
          <p:cNvSpPr/>
          <p:nvPr/>
        </p:nvSpPr>
        <p:spPr>
          <a:xfrm>
            <a:off x="653796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35"/>
          <p:cNvSpPr/>
          <p:nvPr/>
        </p:nvSpPr>
        <p:spPr>
          <a:xfrm>
            <a:off x="6537960" y="1664280"/>
            <a:ext cx="1096920" cy="292320"/>
          </a:xfrm>
          <a:prstGeom prst="rect">
            <a:avLst/>
          </a:prstGeom>
          <a:solidFill>
            <a:srgbClr val="A78BFA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6"/>
          <p:cNvSpPr/>
          <p:nvPr/>
        </p:nvSpPr>
        <p:spPr>
          <a:xfrm>
            <a:off x="653796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AI Validator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7"/>
          <p:cNvSpPr/>
          <p:nvPr/>
        </p:nvSpPr>
        <p:spPr>
          <a:xfrm>
            <a:off x="653796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8"/>
          <p:cNvSpPr/>
          <p:nvPr/>
        </p:nvSpPr>
        <p:spPr>
          <a:xfrm>
            <a:off x="658368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3e8b5a4d...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9"/>
          <p:cNvSpPr/>
          <p:nvPr/>
        </p:nvSpPr>
        <p:spPr>
          <a:xfrm>
            <a:off x="7635240" y="2148840"/>
            <a:ext cx="136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</a:rPr>
              <a:t>→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40"/>
          <p:cNvSpPr/>
          <p:nvPr/>
        </p:nvSpPr>
        <p:spPr>
          <a:xfrm>
            <a:off x="7772400" y="1664280"/>
            <a:ext cx="1096920" cy="1416960"/>
          </a:xfrm>
          <a:prstGeom prst="rect">
            <a:avLst/>
          </a:prstGeom>
          <a:solidFill>
            <a:srgbClr val="0F2040"/>
          </a:solidFill>
          <a:ln w="889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41"/>
          <p:cNvSpPr/>
          <p:nvPr/>
        </p:nvSpPr>
        <p:spPr>
          <a:xfrm>
            <a:off x="7772400" y="1664280"/>
            <a:ext cx="1096920" cy="292320"/>
          </a:xfrm>
          <a:prstGeom prst="rect">
            <a:avLst/>
          </a:prstGeom>
          <a:solidFill>
            <a:srgbClr val="F59E0B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2"/>
          <p:cNvSpPr/>
          <p:nvPr/>
        </p:nvSpPr>
        <p:spPr>
          <a:xfrm>
            <a:off x="7772400" y="16642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Approval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3"/>
          <p:cNvSpPr/>
          <p:nvPr/>
        </p:nvSpPr>
        <p:spPr>
          <a:xfrm>
            <a:off x="7772400" y="2011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4"/>
          <p:cNvSpPr/>
          <p:nvPr/>
        </p:nvSpPr>
        <p:spPr>
          <a:xfrm>
            <a:off x="7818120" y="2286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6f1c9a7e...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45"/>
          <p:cNvSpPr/>
          <p:nvPr/>
        </p:nvSpPr>
        <p:spPr>
          <a:xfrm>
            <a:off x="365760" y="3246120"/>
            <a:ext cx="8412120" cy="237240"/>
          </a:xfrm>
          <a:prstGeom prst="rect">
            <a:avLst/>
          </a:prstGeom>
          <a:solidFill>
            <a:srgbClr val="F59E0B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6"/>
          <p:cNvSpPr/>
          <p:nvPr/>
        </p:nvSpPr>
        <p:spPr>
          <a:xfrm>
            <a:off x="365760" y="3246120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Beneficios del esquema de trazabilidad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7"/>
          <p:cNvSpPr/>
          <p:nvPr/>
        </p:nvSpPr>
        <p:spPr>
          <a:xfrm>
            <a:off x="365760" y="3547800"/>
            <a:ext cx="2651400" cy="126144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8"/>
          <p:cNvSpPr/>
          <p:nvPr/>
        </p:nvSpPr>
        <p:spPr>
          <a:xfrm>
            <a:off x="365760" y="3593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Inmutabilidad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9"/>
          <p:cNvSpPr/>
          <p:nvPr/>
        </p:nvSpPr>
        <p:spPr>
          <a:xfrm>
            <a:off x="502920" y="400500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Los resultados no pueden alterarse sin invalidar el hash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50"/>
          <p:cNvSpPr/>
          <p:nvPr/>
        </p:nvSpPr>
        <p:spPr>
          <a:xfrm>
            <a:off x="3200400" y="3547800"/>
            <a:ext cx="2651400" cy="126144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1"/>
          <p:cNvSpPr/>
          <p:nvPr/>
        </p:nvSpPr>
        <p:spPr>
          <a:xfrm>
            <a:off x="3200400" y="3593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Auditabilidad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52"/>
          <p:cNvSpPr/>
          <p:nvPr/>
        </p:nvSpPr>
        <p:spPr>
          <a:xfrm>
            <a:off x="3337560" y="400500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Cualquier paso puede verificarse independientemente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53"/>
          <p:cNvSpPr/>
          <p:nvPr/>
        </p:nvSpPr>
        <p:spPr>
          <a:xfrm>
            <a:off x="6035040" y="3547800"/>
            <a:ext cx="2651400" cy="126144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4"/>
          <p:cNvSpPr/>
          <p:nvPr/>
        </p:nvSpPr>
        <p:spPr>
          <a:xfrm>
            <a:off x="6035040" y="3593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Reproducibilidad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5"/>
          <p:cNvSpPr/>
          <p:nvPr/>
        </p:nvSpPr>
        <p:spPr>
          <a:xfrm>
            <a:off x="6172200" y="400500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Los mismos inputs siempre producen el mismo hash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6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12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00E0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13 · RESULTADOS DE TESTING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Suite de Pruebas: 121 Tests Passed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3"/>
          <p:cNvSpPr/>
          <p:nvPr/>
        </p:nvSpPr>
        <p:spPr>
          <a:xfrm>
            <a:off x="365760" y="1170360"/>
            <a:ext cx="2011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121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4"/>
          <p:cNvSpPr/>
          <p:nvPr/>
        </p:nvSpPr>
        <p:spPr>
          <a:xfrm>
            <a:off x="365760" y="22402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B478"/>
                </a:solidFill>
                <a:effectLst/>
                <a:uFillTx/>
                <a:latin typeface="Calibri"/>
                <a:ea typeface="Calibri"/>
              </a:rPr>
              <a:t>Tests Passed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5"/>
          <p:cNvSpPr/>
          <p:nvPr/>
        </p:nvSpPr>
        <p:spPr>
          <a:xfrm>
            <a:off x="365760" y="25419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0 Failed · 0 Skipped</a:t>
            </a:r>
            <a:endParaRPr lang="es-E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6"/>
          <p:cNvSpPr/>
          <p:nvPr/>
        </p:nvSpPr>
        <p:spPr>
          <a:xfrm>
            <a:off x="2560320" y="126180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7"/>
          <p:cNvSpPr/>
          <p:nvPr/>
        </p:nvSpPr>
        <p:spPr>
          <a:xfrm>
            <a:off x="2560320" y="13348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24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8"/>
          <p:cNvSpPr/>
          <p:nvPr/>
        </p:nvSpPr>
        <p:spPr>
          <a:xfrm>
            <a:off x="2560320" y="1828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Metrics Engine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>
            <a:off x="4736520" y="126180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0"/>
          <p:cNvSpPr/>
          <p:nvPr/>
        </p:nvSpPr>
        <p:spPr>
          <a:xfrm>
            <a:off x="4736520" y="13348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18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1"/>
          <p:cNvSpPr/>
          <p:nvPr/>
        </p:nvSpPr>
        <p:spPr>
          <a:xfrm>
            <a:off x="4736520" y="1828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Monte Carlo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2"/>
          <p:cNvSpPr/>
          <p:nvPr/>
        </p:nvSpPr>
        <p:spPr>
          <a:xfrm>
            <a:off x="6912720" y="126180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3"/>
          <p:cNvSpPr/>
          <p:nvPr/>
        </p:nvSpPr>
        <p:spPr>
          <a:xfrm>
            <a:off x="6912720" y="133488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22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4"/>
          <p:cNvSpPr/>
          <p:nvPr/>
        </p:nvSpPr>
        <p:spPr>
          <a:xfrm>
            <a:off x="6912720" y="1828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BacktestValidator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5"/>
          <p:cNvSpPr/>
          <p:nvPr/>
        </p:nvSpPr>
        <p:spPr>
          <a:xfrm>
            <a:off x="2560320" y="235908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6"/>
          <p:cNvSpPr/>
          <p:nvPr/>
        </p:nvSpPr>
        <p:spPr>
          <a:xfrm>
            <a:off x="2560320" y="24321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19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7"/>
          <p:cNvSpPr/>
          <p:nvPr/>
        </p:nvSpPr>
        <p:spPr>
          <a:xfrm>
            <a:off x="2560320" y="2926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RiskEngine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8"/>
          <p:cNvSpPr/>
          <p:nvPr/>
        </p:nvSpPr>
        <p:spPr>
          <a:xfrm>
            <a:off x="4736520" y="235908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9"/>
          <p:cNvSpPr/>
          <p:nvPr/>
        </p:nvSpPr>
        <p:spPr>
          <a:xfrm>
            <a:off x="4736520" y="24321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0"/>
          <p:cNvSpPr/>
          <p:nvPr/>
        </p:nvSpPr>
        <p:spPr>
          <a:xfrm>
            <a:off x="4736520" y="2926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AI Contracts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1"/>
          <p:cNvSpPr/>
          <p:nvPr/>
        </p:nvSpPr>
        <p:spPr>
          <a:xfrm>
            <a:off x="6912720" y="2359080"/>
            <a:ext cx="2011320" cy="959760"/>
          </a:xfrm>
          <a:prstGeom prst="rect">
            <a:avLst/>
          </a:prstGeom>
          <a:solidFill>
            <a:srgbClr val="0F2040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2"/>
          <p:cNvSpPr/>
          <p:nvPr/>
        </p:nvSpPr>
        <p:spPr>
          <a:xfrm>
            <a:off x="6912720" y="243216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19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3"/>
          <p:cNvSpPr/>
          <p:nvPr/>
        </p:nvSpPr>
        <p:spPr>
          <a:xfrm>
            <a:off x="6912720" y="2926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SHA-256 / API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4"/>
          <p:cNvSpPr/>
          <p:nvPr/>
        </p:nvSpPr>
        <p:spPr>
          <a:xfrm>
            <a:off x="365760" y="34563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Cobertura por componente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5"/>
          <p:cNvSpPr/>
          <p:nvPr/>
        </p:nvSpPr>
        <p:spPr>
          <a:xfrm>
            <a:off x="365760" y="376740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6"/>
          <p:cNvSpPr/>
          <p:nvPr/>
        </p:nvSpPr>
        <p:spPr>
          <a:xfrm>
            <a:off x="365760" y="3767400"/>
            <a:ext cx="1706400" cy="127800"/>
          </a:xfrm>
          <a:prstGeom prst="rect">
            <a:avLst/>
          </a:prstGeom>
          <a:solidFill>
            <a:srgbClr val="F59E0B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7"/>
          <p:cNvSpPr/>
          <p:nvPr/>
        </p:nvSpPr>
        <p:spPr>
          <a:xfrm>
            <a:off x="384120" y="376740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Metrics Engine  —  24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8"/>
          <p:cNvSpPr/>
          <p:nvPr/>
        </p:nvSpPr>
        <p:spPr>
          <a:xfrm>
            <a:off x="365760" y="395028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9"/>
          <p:cNvSpPr/>
          <p:nvPr/>
        </p:nvSpPr>
        <p:spPr>
          <a:xfrm>
            <a:off x="365760" y="3950280"/>
            <a:ext cx="1279800" cy="127800"/>
          </a:xfrm>
          <a:prstGeom prst="rect">
            <a:avLst/>
          </a:prstGeom>
          <a:solidFill>
            <a:srgbClr val="FF8C42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30"/>
          <p:cNvSpPr/>
          <p:nvPr/>
        </p:nvSpPr>
        <p:spPr>
          <a:xfrm>
            <a:off x="384120" y="395028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Monte Carlo  —  18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1"/>
          <p:cNvSpPr/>
          <p:nvPr/>
        </p:nvSpPr>
        <p:spPr>
          <a:xfrm>
            <a:off x="365760" y="413316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2"/>
          <p:cNvSpPr/>
          <p:nvPr/>
        </p:nvSpPr>
        <p:spPr>
          <a:xfrm>
            <a:off x="365760" y="4133160"/>
            <a:ext cx="1564200" cy="127800"/>
          </a:xfrm>
          <a:prstGeom prst="rect">
            <a:avLst/>
          </a:prstGeom>
          <a:solidFill>
            <a:srgbClr val="4DA8FF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3"/>
          <p:cNvSpPr/>
          <p:nvPr/>
        </p:nvSpPr>
        <p:spPr>
          <a:xfrm>
            <a:off x="384120" y="413316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BacktestValidator  —  22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34"/>
          <p:cNvSpPr/>
          <p:nvPr/>
        </p:nvSpPr>
        <p:spPr>
          <a:xfrm>
            <a:off x="365760" y="431604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5"/>
          <p:cNvSpPr/>
          <p:nvPr/>
        </p:nvSpPr>
        <p:spPr>
          <a:xfrm>
            <a:off x="365760" y="4316040"/>
            <a:ext cx="1351080" cy="127800"/>
          </a:xfrm>
          <a:prstGeom prst="rect">
            <a:avLst/>
          </a:prstGeom>
          <a:solidFill>
            <a:srgbClr val="E53E3E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6"/>
          <p:cNvSpPr/>
          <p:nvPr/>
        </p:nvSpPr>
        <p:spPr>
          <a:xfrm>
            <a:off x="384120" y="431604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RiskEngine  —  19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37"/>
          <p:cNvSpPr/>
          <p:nvPr/>
        </p:nvSpPr>
        <p:spPr>
          <a:xfrm>
            <a:off x="365760" y="449892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8"/>
          <p:cNvSpPr/>
          <p:nvPr/>
        </p:nvSpPr>
        <p:spPr>
          <a:xfrm>
            <a:off x="365760" y="4498920"/>
            <a:ext cx="1066320" cy="127800"/>
          </a:xfrm>
          <a:prstGeom prst="rect">
            <a:avLst/>
          </a:prstGeom>
          <a:solidFill>
            <a:srgbClr val="A78BFA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9"/>
          <p:cNvSpPr/>
          <p:nvPr/>
        </p:nvSpPr>
        <p:spPr>
          <a:xfrm>
            <a:off x="384120" y="449892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AI Contracts  —  15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0"/>
          <p:cNvSpPr/>
          <p:nvPr/>
        </p:nvSpPr>
        <p:spPr>
          <a:xfrm>
            <a:off x="365760" y="4681800"/>
            <a:ext cx="8320680" cy="127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1"/>
          <p:cNvSpPr/>
          <p:nvPr/>
        </p:nvSpPr>
        <p:spPr>
          <a:xfrm>
            <a:off x="365760" y="4681800"/>
            <a:ext cx="1351080" cy="127800"/>
          </a:xfrm>
          <a:prstGeom prst="rect">
            <a:avLst/>
          </a:prstGeom>
          <a:solidFill>
            <a:srgbClr val="00E096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42"/>
          <p:cNvSpPr/>
          <p:nvPr/>
        </p:nvSpPr>
        <p:spPr>
          <a:xfrm>
            <a:off x="384120" y="4681800"/>
            <a:ext cx="3657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SHA-256 / API  —  19 tests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3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13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0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solidFill>
            <a:srgbClr val="0D1B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VISUALIZACIÓN DE RESULTADOS PARA USUARIOS Y ANALISTAS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"/>
          <p:cNvSpPr/>
          <p:nvPr/>
        </p:nvSpPr>
        <p:spPr>
          <a:xfrm>
            <a:off x="7498080" y="621720"/>
            <a:ext cx="1279800" cy="255600"/>
          </a:xfrm>
          <a:prstGeom prst="rect">
            <a:avLst/>
          </a:prstGeom>
          <a:solidFill>
            <a:srgbClr val="0074CC">
              <a:alpha val="20000"/>
            </a:srgbClr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"/>
          <p:cNvSpPr/>
          <p:nvPr/>
        </p:nvSpPr>
        <p:spPr>
          <a:xfrm>
            <a:off x="7498080" y="6217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121 TESTS PASSED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4"/>
          <p:cNvSpPr/>
          <p:nvPr/>
        </p:nvSpPr>
        <p:spPr>
          <a:xfrm>
            <a:off x="5989320" y="621720"/>
            <a:ext cx="1416960" cy="255600"/>
          </a:xfrm>
          <a:prstGeom prst="rect">
            <a:avLst/>
          </a:prstGeom>
          <a:solidFill>
            <a:srgbClr val="FF8C42">
              <a:alpha val="15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"/>
          <p:cNvSpPr/>
          <p:nvPr/>
        </p:nvSpPr>
        <p:spPr>
          <a:xfrm>
            <a:off x="5989320" y="6217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ALLOW_REAL = False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6"/>
          <p:cNvSpPr/>
          <p:nvPr/>
        </p:nvSpPr>
        <p:spPr>
          <a:xfrm>
            <a:off x="292680" y="960120"/>
            <a:ext cx="2011320" cy="95976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7"/>
          <p:cNvSpPr/>
          <p:nvPr/>
        </p:nvSpPr>
        <p:spPr>
          <a:xfrm>
            <a:off x="292680" y="987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Estado final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8"/>
          <p:cNvSpPr/>
          <p:nvPr/>
        </p:nvSpPr>
        <p:spPr>
          <a:xfrm>
            <a:off x="292680" y="1188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B86B"/>
                </a:solidFill>
                <a:effectLst/>
                <a:uFillTx/>
                <a:latin typeface="Consolas"/>
                <a:ea typeface="Consolas"/>
              </a:rPr>
              <a:t>OBSERVATION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9"/>
          <p:cNvSpPr/>
          <p:nvPr/>
        </p:nvSpPr>
        <p:spPr>
          <a:xfrm>
            <a:off x="384120" y="1609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Demo: degradado por baja confianza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0"/>
          <p:cNvSpPr/>
          <p:nvPr/>
        </p:nvSpPr>
        <p:spPr>
          <a:xfrm>
            <a:off x="2468880" y="960120"/>
            <a:ext cx="2011320" cy="95976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1"/>
          <p:cNvSpPr/>
          <p:nvPr/>
        </p:nvSpPr>
        <p:spPr>
          <a:xfrm>
            <a:off x="2468880" y="987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RiskEngine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2"/>
          <p:cNvSpPr/>
          <p:nvPr/>
        </p:nvSpPr>
        <p:spPr>
          <a:xfrm>
            <a:off x="2468880" y="1188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BLOCKED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3"/>
          <p:cNvSpPr/>
          <p:nvPr/>
        </p:nvSpPr>
        <p:spPr>
          <a:xfrm>
            <a:off x="2560320" y="1609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R1 bloquea ejecución real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4"/>
          <p:cNvSpPr/>
          <p:nvPr/>
        </p:nvSpPr>
        <p:spPr>
          <a:xfrm>
            <a:off x="4645080" y="960120"/>
            <a:ext cx="2011320" cy="95976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5"/>
          <p:cNvSpPr/>
          <p:nvPr/>
        </p:nvSpPr>
        <p:spPr>
          <a:xfrm>
            <a:off x="4645080" y="987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AI Validator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6"/>
          <p:cNvSpPr/>
          <p:nvPr/>
        </p:nvSpPr>
        <p:spPr>
          <a:xfrm>
            <a:off x="4645080" y="1188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INFO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7"/>
          <p:cNvSpPr/>
          <p:nvPr/>
        </p:nvSpPr>
        <p:spPr>
          <a:xfrm>
            <a:off x="4736520" y="1609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Explicativo, no vinculante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8"/>
          <p:cNvSpPr/>
          <p:nvPr/>
        </p:nvSpPr>
        <p:spPr>
          <a:xfrm>
            <a:off x="6821280" y="960120"/>
            <a:ext cx="2011320" cy="95976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9"/>
          <p:cNvSpPr/>
          <p:nvPr/>
        </p:nvSpPr>
        <p:spPr>
          <a:xfrm>
            <a:off x="6821280" y="987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Operaciones reales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20"/>
          <p:cNvSpPr/>
          <p:nvPr/>
        </p:nvSpPr>
        <p:spPr>
          <a:xfrm>
            <a:off x="6821280" y="1188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21"/>
          <p:cNvSpPr/>
          <p:nvPr/>
        </p:nvSpPr>
        <p:spPr>
          <a:xfrm>
            <a:off x="6912720" y="16092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Sistema académico seguro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2"/>
          <p:cNvSpPr/>
          <p:nvPr/>
        </p:nvSpPr>
        <p:spPr>
          <a:xfrm>
            <a:off x="292680" y="2011680"/>
            <a:ext cx="5120280" cy="190152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23"/>
          <p:cNvSpPr/>
          <p:nvPr/>
        </p:nvSpPr>
        <p:spPr>
          <a:xfrm>
            <a:off x="384120" y="20484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C9D8EA"/>
                </a:solidFill>
                <a:effectLst/>
                <a:uFillTx/>
                <a:latin typeface="Consolas"/>
                <a:ea typeface="Consolas"/>
              </a:rPr>
              <a:t>MÉTRICAS DE ESTRATEGIA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24"/>
          <p:cNvSpPr/>
          <p:nvPr/>
        </p:nvSpPr>
        <p:spPr>
          <a:xfrm>
            <a:off x="384120" y="230436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Profit Factor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5"/>
          <p:cNvSpPr/>
          <p:nvPr/>
        </p:nvSpPr>
        <p:spPr>
          <a:xfrm>
            <a:off x="1572840" y="2350080"/>
            <a:ext cx="3291480" cy="12780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6"/>
          <p:cNvSpPr/>
          <p:nvPr/>
        </p:nvSpPr>
        <p:spPr>
          <a:xfrm>
            <a:off x="1572840" y="2350080"/>
            <a:ext cx="2435760" cy="127800"/>
          </a:xfrm>
          <a:prstGeom prst="rect">
            <a:avLst/>
          </a:prstGeom>
          <a:solidFill>
            <a:srgbClr val="00E096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7"/>
          <p:cNvSpPr/>
          <p:nvPr/>
        </p:nvSpPr>
        <p:spPr>
          <a:xfrm>
            <a:off x="4956120" y="2304360"/>
            <a:ext cx="41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1.48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8"/>
          <p:cNvSpPr/>
          <p:nvPr/>
        </p:nvSpPr>
        <p:spPr>
          <a:xfrm>
            <a:off x="384120" y="259704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Win Rate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9"/>
          <p:cNvSpPr/>
          <p:nvPr/>
        </p:nvSpPr>
        <p:spPr>
          <a:xfrm>
            <a:off x="1572840" y="2642760"/>
            <a:ext cx="3291480" cy="12780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30"/>
          <p:cNvSpPr/>
          <p:nvPr/>
        </p:nvSpPr>
        <p:spPr>
          <a:xfrm>
            <a:off x="1572840" y="2642760"/>
            <a:ext cx="2040480" cy="127800"/>
          </a:xfrm>
          <a:prstGeom prst="rect">
            <a:avLst/>
          </a:prstGeom>
          <a:solidFill>
            <a:srgbClr val="00E096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1"/>
          <p:cNvSpPr/>
          <p:nvPr/>
        </p:nvSpPr>
        <p:spPr>
          <a:xfrm>
            <a:off x="4956120" y="2597040"/>
            <a:ext cx="41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62%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32"/>
          <p:cNvSpPr/>
          <p:nvPr/>
        </p:nvSpPr>
        <p:spPr>
          <a:xfrm>
            <a:off x="384120" y="288936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Sortino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33"/>
          <p:cNvSpPr/>
          <p:nvPr/>
        </p:nvSpPr>
        <p:spPr>
          <a:xfrm>
            <a:off x="1572840" y="2935080"/>
            <a:ext cx="3291480" cy="12780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4"/>
          <p:cNvSpPr/>
          <p:nvPr/>
        </p:nvSpPr>
        <p:spPr>
          <a:xfrm>
            <a:off x="1572840" y="2935080"/>
            <a:ext cx="1909080" cy="127800"/>
          </a:xfrm>
          <a:prstGeom prst="rect">
            <a:avLst/>
          </a:prstGeom>
          <a:solidFill>
            <a:srgbClr val="4DA8FF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35"/>
          <p:cNvSpPr/>
          <p:nvPr/>
        </p:nvSpPr>
        <p:spPr>
          <a:xfrm>
            <a:off x="4956120" y="2889360"/>
            <a:ext cx="41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1.16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6"/>
          <p:cNvSpPr/>
          <p:nvPr/>
        </p:nvSpPr>
        <p:spPr>
          <a:xfrm>
            <a:off x="384120" y="318204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Max Drawdown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37"/>
          <p:cNvSpPr/>
          <p:nvPr/>
        </p:nvSpPr>
        <p:spPr>
          <a:xfrm>
            <a:off x="1572840" y="3227760"/>
            <a:ext cx="3291480" cy="12780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8"/>
          <p:cNvSpPr/>
          <p:nvPr/>
        </p:nvSpPr>
        <p:spPr>
          <a:xfrm>
            <a:off x="1572840" y="3227760"/>
            <a:ext cx="1118880" cy="127800"/>
          </a:xfrm>
          <a:prstGeom prst="rect">
            <a:avLst/>
          </a:prstGeom>
          <a:solidFill>
            <a:srgbClr val="FF8C42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39"/>
          <p:cNvSpPr/>
          <p:nvPr/>
        </p:nvSpPr>
        <p:spPr>
          <a:xfrm>
            <a:off x="4956120" y="3182040"/>
            <a:ext cx="41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8.4%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40"/>
          <p:cNvSpPr/>
          <p:nvPr/>
        </p:nvSpPr>
        <p:spPr>
          <a:xfrm>
            <a:off x="384120" y="347472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Risk of Ruin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41"/>
          <p:cNvSpPr/>
          <p:nvPr/>
        </p:nvSpPr>
        <p:spPr>
          <a:xfrm>
            <a:off x="1572840" y="3520440"/>
            <a:ext cx="3291480" cy="12780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42"/>
          <p:cNvSpPr/>
          <p:nvPr/>
        </p:nvSpPr>
        <p:spPr>
          <a:xfrm>
            <a:off x="1572840" y="3520440"/>
            <a:ext cx="592200" cy="127800"/>
          </a:xfrm>
          <a:prstGeom prst="rect">
            <a:avLst/>
          </a:prstGeom>
          <a:solidFill>
            <a:srgbClr val="E53E3E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43"/>
          <p:cNvSpPr/>
          <p:nvPr/>
        </p:nvSpPr>
        <p:spPr>
          <a:xfrm>
            <a:off x="4956120" y="3474720"/>
            <a:ext cx="411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3.2%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44"/>
          <p:cNvSpPr/>
          <p:nvPr/>
        </p:nvSpPr>
        <p:spPr>
          <a:xfrm>
            <a:off x="5559480" y="2011680"/>
            <a:ext cx="3291480" cy="190152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45"/>
          <p:cNvSpPr/>
          <p:nvPr/>
        </p:nvSpPr>
        <p:spPr>
          <a:xfrm>
            <a:off x="5650920" y="20484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C9D8EA"/>
                </a:solidFill>
                <a:effectLst/>
                <a:uFillTx/>
                <a:latin typeface="Consolas"/>
                <a:ea typeface="Consolas"/>
              </a:rPr>
              <a:t>DECISIONES DEL SISTEMA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6"/>
          <p:cNvSpPr/>
          <p:nvPr/>
        </p:nvSpPr>
        <p:spPr>
          <a:xfrm>
            <a:off x="5559480" y="2304360"/>
            <a:ext cx="3291480" cy="237240"/>
          </a:xfrm>
          <a:prstGeom prst="rect">
            <a:avLst/>
          </a:prstGeom>
          <a:solidFill>
            <a:srgbClr val="0D15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47"/>
          <p:cNvSpPr/>
          <p:nvPr/>
        </p:nvSpPr>
        <p:spPr>
          <a:xfrm>
            <a:off x="5650920" y="230436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SHA-256 Traceability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8"/>
          <p:cNvSpPr/>
          <p:nvPr/>
        </p:nvSpPr>
        <p:spPr>
          <a:xfrm>
            <a:off x="7406640" y="230436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OK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49"/>
          <p:cNvSpPr/>
          <p:nvPr/>
        </p:nvSpPr>
        <p:spPr>
          <a:xfrm>
            <a:off x="5559480" y="2560320"/>
            <a:ext cx="3291480" cy="23724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50"/>
          <p:cNvSpPr/>
          <p:nvPr/>
        </p:nvSpPr>
        <p:spPr>
          <a:xfrm>
            <a:off x="5650920" y="25603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Metrics Engine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51"/>
          <p:cNvSpPr/>
          <p:nvPr/>
        </p:nvSpPr>
        <p:spPr>
          <a:xfrm>
            <a:off x="7406640" y="25603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RECALCULATED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52"/>
          <p:cNvSpPr/>
          <p:nvPr/>
        </p:nvSpPr>
        <p:spPr>
          <a:xfrm>
            <a:off x="5559480" y="2816280"/>
            <a:ext cx="3291480" cy="237240"/>
          </a:xfrm>
          <a:prstGeom prst="rect">
            <a:avLst/>
          </a:prstGeom>
          <a:solidFill>
            <a:srgbClr val="0D15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53"/>
          <p:cNvSpPr/>
          <p:nvPr/>
        </p:nvSpPr>
        <p:spPr>
          <a:xfrm>
            <a:off x="5650920" y="28162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Monte Carlo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54"/>
          <p:cNvSpPr/>
          <p:nvPr/>
        </p:nvSpPr>
        <p:spPr>
          <a:xfrm>
            <a:off x="7406640" y="281628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LOW CONF.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55"/>
          <p:cNvSpPr/>
          <p:nvPr/>
        </p:nvSpPr>
        <p:spPr>
          <a:xfrm>
            <a:off x="5559480" y="3072240"/>
            <a:ext cx="3291480" cy="23724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56"/>
          <p:cNvSpPr/>
          <p:nvPr/>
        </p:nvSpPr>
        <p:spPr>
          <a:xfrm>
            <a:off x="5650920" y="30722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BacktestValidator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57"/>
          <p:cNvSpPr/>
          <p:nvPr/>
        </p:nvSpPr>
        <p:spPr>
          <a:xfrm>
            <a:off x="7406640" y="307224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B86B"/>
                </a:solidFill>
                <a:effectLst/>
                <a:uFillTx/>
                <a:latin typeface="Consolas"/>
                <a:ea typeface="Consolas"/>
              </a:rPr>
              <a:t>OBSERVATION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58"/>
          <p:cNvSpPr/>
          <p:nvPr/>
        </p:nvSpPr>
        <p:spPr>
          <a:xfrm>
            <a:off x="5559480" y="3328560"/>
            <a:ext cx="3291480" cy="237240"/>
          </a:xfrm>
          <a:prstGeom prst="rect">
            <a:avLst/>
          </a:prstGeom>
          <a:solidFill>
            <a:srgbClr val="0D15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59"/>
          <p:cNvSpPr/>
          <p:nvPr/>
        </p:nvSpPr>
        <p:spPr>
          <a:xfrm>
            <a:off x="5650920" y="332856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RiskEngine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60"/>
          <p:cNvSpPr/>
          <p:nvPr/>
        </p:nvSpPr>
        <p:spPr>
          <a:xfrm>
            <a:off x="7406640" y="332856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BLOCKED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61"/>
          <p:cNvSpPr/>
          <p:nvPr/>
        </p:nvSpPr>
        <p:spPr>
          <a:xfrm>
            <a:off x="5559480" y="3584520"/>
            <a:ext cx="3291480" cy="23724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62"/>
          <p:cNvSpPr/>
          <p:nvPr/>
        </p:nvSpPr>
        <p:spPr>
          <a:xfrm>
            <a:off x="5650920" y="358452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AI Validator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63"/>
          <p:cNvSpPr/>
          <p:nvPr/>
        </p:nvSpPr>
        <p:spPr>
          <a:xfrm>
            <a:off x="7406640" y="35845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HUMAN REVIEW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64"/>
          <p:cNvSpPr/>
          <p:nvPr/>
        </p:nvSpPr>
        <p:spPr>
          <a:xfrm>
            <a:off x="292680" y="4005000"/>
            <a:ext cx="8558280" cy="621360"/>
          </a:xfrm>
          <a:prstGeom prst="rect">
            <a:avLst/>
          </a:prstGeom>
          <a:solidFill>
            <a:srgbClr val="080010">
              <a:alpha val="80000"/>
            </a:srgbClr>
          </a:solidFill>
          <a:ln w="6350">
            <a:solidFill>
              <a:srgbClr val="4B26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65"/>
          <p:cNvSpPr/>
          <p:nvPr/>
        </p:nvSpPr>
        <p:spPr>
          <a:xfrm>
            <a:off x="384120" y="4041720"/>
            <a:ext cx="8366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B2B2"/>
                </a:solidFill>
                <a:effectLst/>
                <a:uFillTx/>
                <a:latin typeface="Consolas"/>
                <a:ea typeface="Consolas"/>
              </a:rPr>
              <a:t>⊘ La IA no decide  ·  ⊘ La IA no ejecuta  ·  ⊘ No bypass RiskEngine  ·  ALLOW_REAL_EXECUTION = False  ·  approved_for_real = False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66"/>
          <p:cNvSpPr/>
          <p:nvPr/>
        </p:nvSpPr>
        <p:spPr>
          <a:xfrm>
            <a:off x="384120" y="4334400"/>
            <a:ext cx="83664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Regla fallida: ⊘ R2_APPROVAL_REQUIRED — El dashboard demuestra flujo de validación académica sin ejecutar operaciones reales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67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14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0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solidFill>
            <a:srgbClr val="0D1B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"/>
          <p:cNvSpPr/>
          <p:nvPr/>
        </p:nvSpPr>
        <p:spPr>
          <a:xfrm>
            <a:off x="0" y="0"/>
            <a:ext cx="91436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DEMO FUNCIONAL — RESULTADO DEL PIPELINE ACADÉMICO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"/>
          <p:cNvSpPr/>
          <p:nvPr/>
        </p:nvSpPr>
        <p:spPr>
          <a:xfrm>
            <a:off x="365760" y="585360"/>
            <a:ext cx="5486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Pipeline completo ejecutado · 2026-06-03  ·  Fase 4.4 Académica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3"/>
          <p:cNvSpPr/>
          <p:nvPr/>
        </p:nvSpPr>
        <p:spPr>
          <a:xfrm>
            <a:off x="5943600" y="603360"/>
            <a:ext cx="987120" cy="200880"/>
          </a:xfrm>
          <a:prstGeom prst="rect">
            <a:avLst/>
          </a:prstGeom>
          <a:solidFill>
            <a:srgbClr val="101B2B"/>
          </a:solidFill>
          <a:ln w="5080">
            <a:solidFill>
              <a:srgbClr val="244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5943600" y="603360"/>
            <a:ext cx="987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FASE 4.4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5"/>
          <p:cNvSpPr/>
          <p:nvPr/>
        </p:nvSpPr>
        <p:spPr>
          <a:xfrm>
            <a:off x="7022520" y="603360"/>
            <a:ext cx="987120" cy="200880"/>
          </a:xfrm>
          <a:prstGeom prst="rect">
            <a:avLst/>
          </a:prstGeom>
          <a:solidFill>
            <a:srgbClr val="101B2B"/>
          </a:solidFill>
          <a:ln w="5080">
            <a:solidFill>
              <a:srgbClr val="244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6"/>
          <p:cNvSpPr/>
          <p:nvPr/>
        </p:nvSpPr>
        <p:spPr>
          <a:xfrm>
            <a:off x="7022520" y="603360"/>
            <a:ext cx="987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1000 Sim. MC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7"/>
          <p:cNvSpPr/>
          <p:nvPr/>
        </p:nvSpPr>
        <p:spPr>
          <a:xfrm>
            <a:off x="8101440" y="603360"/>
            <a:ext cx="987120" cy="200880"/>
          </a:xfrm>
          <a:prstGeom prst="rect">
            <a:avLst/>
          </a:prstGeom>
          <a:solidFill>
            <a:srgbClr val="101B2B"/>
          </a:solidFill>
          <a:ln w="5080">
            <a:solidFill>
              <a:srgbClr val="2441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8"/>
          <p:cNvSpPr/>
          <p:nvPr/>
        </p:nvSpPr>
        <p:spPr>
          <a:xfrm>
            <a:off x="8101440" y="603360"/>
            <a:ext cx="987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approved=False</a:t>
            </a:r>
            <a:endParaRPr lang="es-E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9"/>
          <p:cNvSpPr/>
          <p:nvPr/>
        </p:nvSpPr>
        <p:spPr>
          <a:xfrm>
            <a:off x="292680" y="896040"/>
            <a:ext cx="8558280" cy="18252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0"/>
          <p:cNvSpPr/>
          <p:nvPr/>
        </p:nvSpPr>
        <p:spPr>
          <a:xfrm>
            <a:off x="384120" y="89604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C9D8EA"/>
                </a:solidFill>
                <a:effectLst/>
                <a:uFillTx/>
                <a:latin typeface="Consolas"/>
                <a:ea typeface="Consolas"/>
              </a:rPr>
              <a:t>PIPELINE EJECUTADO — 6 PASOS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1"/>
          <p:cNvSpPr/>
          <p:nvPr/>
        </p:nvSpPr>
        <p:spPr>
          <a:xfrm>
            <a:off x="29268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2"/>
          <p:cNvSpPr/>
          <p:nvPr/>
        </p:nvSpPr>
        <p:spPr>
          <a:xfrm>
            <a:off x="29268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MT5 HTML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Parser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3"/>
          <p:cNvSpPr/>
          <p:nvPr/>
        </p:nvSpPr>
        <p:spPr>
          <a:xfrm>
            <a:off x="1609200" y="1261800"/>
            <a:ext cx="1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56D9B"/>
                </a:solidFill>
                <a:effectLst/>
                <a:uFillTx/>
                <a:latin typeface="Calibri"/>
              </a:rPr>
              <a:t>→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4"/>
          <p:cNvSpPr/>
          <p:nvPr/>
        </p:nvSpPr>
        <p:spPr>
          <a:xfrm>
            <a:off x="173736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5"/>
          <p:cNvSpPr/>
          <p:nvPr/>
        </p:nvSpPr>
        <p:spPr>
          <a:xfrm>
            <a:off x="173736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SHA-256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Trazabilidad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6"/>
          <p:cNvSpPr/>
          <p:nvPr/>
        </p:nvSpPr>
        <p:spPr>
          <a:xfrm>
            <a:off x="3054240" y="1261800"/>
            <a:ext cx="1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56D9B"/>
                </a:solidFill>
                <a:effectLst/>
                <a:uFillTx/>
                <a:latin typeface="Calibri"/>
              </a:rPr>
              <a:t>→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7"/>
          <p:cNvSpPr/>
          <p:nvPr/>
        </p:nvSpPr>
        <p:spPr>
          <a:xfrm>
            <a:off x="318204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8"/>
          <p:cNvSpPr/>
          <p:nvPr/>
        </p:nvSpPr>
        <p:spPr>
          <a:xfrm>
            <a:off x="318204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Metrics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Engine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9"/>
          <p:cNvSpPr/>
          <p:nvPr/>
        </p:nvSpPr>
        <p:spPr>
          <a:xfrm>
            <a:off x="4498920" y="1261800"/>
            <a:ext cx="1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56D9B"/>
                </a:solidFill>
                <a:effectLst/>
                <a:uFillTx/>
                <a:latin typeface="Calibri"/>
              </a:rPr>
              <a:t>→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20"/>
          <p:cNvSpPr/>
          <p:nvPr/>
        </p:nvSpPr>
        <p:spPr>
          <a:xfrm>
            <a:off x="462672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1"/>
          <p:cNvSpPr/>
          <p:nvPr/>
        </p:nvSpPr>
        <p:spPr>
          <a:xfrm>
            <a:off x="462672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Monte Carlo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1000 Sim.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2"/>
          <p:cNvSpPr/>
          <p:nvPr/>
        </p:nvSpPr>
        <p:spPr>
          <a:xfrm>
            <a:off x="5943600" y="1261800"/>
            <a:ext cx="1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56D9B"/>
                </a:solidFill>
                <a:effectLst/>
                <a:uFillTx/>
                <a:latin typeface="Calibri"/>
              </a:rPr>
              <a:t>→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23"/>
          <p:cNvSpPr/>
          <p:nvPr/>
        </p:nvSpPr>
        <p:spPr>
          <a:xfrm>
            <a:off x="607176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4"/>
          <p:cNvSpPr/>
          <p:nvPr/>
        </p:nvSpPr>
        <p:spPr>
          <a:xfrm>
            <a:off x="607176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Backtest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Validator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5"/>
          <p:cNvSpPr/>
          <p:nvPr/>
        </p:nvSpPr>
        <p:spPr>
          <a:xfrm>
            <a:off x="7388280" y="1261800"/>
            <a:ext cx="1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56D9B"/>
                </a:solidFill>
                <a:effectLst/>
                <a:uFillTx/>
                <a:latin typeface="Calibri"/>
              </a:rPr>
              <a:t>→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6"/>
          <p:cNvSpPr/>
          <p:nvPr/>
        </p:nvSpPr>
        <p:spPr>
          <a:xfrm>
            <a:off x="7516440" y="1115640"/>
            <a:ext cx="1316520" cy="594000"/>
          </a:xfrm>
          <a:prstGeom prst="rect">
            <a:avLst/>
          </a:prstGeom>
          <a:solidFill>
            <a:srgbClr val="0B1728"/>
          </a:solidFill>
          <a:ln w="7620">
            <a:solidFill>
              <a:srgbClr val="00E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27"/>
          <p:cNvSpPr/>
          <p:nvPr/>
        </p:nvSpPr>
        <p:spPr>
          <a:xfrm>
            <a:off x="7516440" y="1115640"/>
            <a:ext cx="13165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Risk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Engine ✓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28"/>
          <p:cNvSpPr/>
          <p:nvPr/>
        </p:nvSpPr>
        <p:spPr>
          <a:xfrm>
            <a:off x="292680" y="1828800"/>
            <a:ext cx="2011320" cy="80424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9"/>
          <p:cNvSpPr/>
          <p:nvPr/>
        </p:nvSpPr>
        <p:spPr>
          <a:xfrm>
            <a:off x="292680" y="18561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BacktestValidator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30"/>
          <p:cNvSpPr/>
          <p:nvPr/>
        </p:nvSpPr>
        <p:spPr>
          <a:xfrm>
            <a:off x="292680" y="20574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B86B"/>
                </a:solidFill>
                <a:effectLst/>
                <a:uFillTx/>
                <a:latin typeface="Consolas"/>
                <a:ea typeface="Consolas"/>
              </a:rPr>
              <a:t>OBSERVATION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31"/>
          <p:cNvSpPr/>
          <p:nvPr/>
        </p:nvSpPr>
        <p:spPr>
          <a:xfrm>
            <a:off x="292680" y="24231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Demo funcional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32"/>
          <p:cNvSpPr/>
          <p:nvPr/>
        </p:nvSpPr>
        <p:spPr>
          <a:xfrm>
            <a:off x="2468880" y="1828800"/>
            <a:ext cx="2011320" cy="80424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3"/>
          <p:cNvSpPr/>
          <p:nvPr/>
        </p:nvSpPr>
        <p:spPr>
          <a:xfrm>
            <a:off x="2468880" y="18561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RiskEngine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34"/>
          <p:cNvSpPr/>
          <p:nvPr/>
        </p:nvSpPr>
        <p:spPr>
          <a:xfrm>
            <a:off x="2468880" y="20574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53E3E"/>
                </a:solidFill>
                <a:effectLst/>
                <a:uFillTx/>
                <a:latin typeface="Consolas"/>
                <a:ea typeface="Consolas"/>
              </a:rPr>
              <a:t>BLOCKED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35"/>
          <p:cNvSpPr/>
          <p:nvPr/>
        </p:nvSpPr>
        <p:spPr>
          <a:xfrm>
            <a:off x="2468880" y="24231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Demo funcional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6"/>
          <p:cNvSpPr/>
          <p:nvPr/>
        </p:nvSpPr>
        <p:spPr>
          <a:xfrm>
            <a:off x="4645080" y="1828800"/>
            <a:ext cx="2011320" cy="80424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37"/>
          <p:cNvSpPr/>
          <p:nvPr/>
        </p:nvSpPr>
        <p:spPr>
          <a:xfrm>
            <a:off x="4645080" y="18561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Monte Carlo (1000 sim)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38"/>
          <p:cNvSpPr/>
          <p:nvPr/>
        </p:nvSpPr>
        <p:spPr>
          <a:xfrm>
            <a:off x="4645080" y="20574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LOW CONF.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39"/>
          <p:cNvSpPr/>
          <p:nvPr/>
        </p:nvSpPr>
        <p:spPr>
          <a:xfrm>
            <a:off x="4645080" y="24231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Demo funcional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40"/>
          <p:cNvSpPr/>
          <p:nvPr/>
        </p:nvSpPr>
        <p:spPr>
          <a:xfrm>
            <a:off x="6821280" y="1828800"/>
            <a:ext cx="2011320" cy="80424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41"/>
          <p:cNvSpPr/>
          <p:nvPr/>
        </p:nvSpPr>
        <p:spPr>
          <a:xfrm>
            <a:off x="6821280" y="18561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FA3BF"/>
                </a:solidFill>
                <a:effectLst/>
                <a:uFillTx/>
                <a:latin typeface="Calibri"/>
                <a:ea typeface="Calibri"/>
              </a:rPr>
              <a:t>Operaciones Reales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42"/>
          <p:cNvSpPr/>
          <p:nvPr/>
        </p:nvSpPr>
        <p:spPr>
          <a:xfrm>
            <a:off x="6821280" y="205740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43"/>
          <p:cNvSpPr/>
          <p:nvPr/>
        </p:nvSpPr>
        <p:spPr>
          <a:xfrm>
            <a:off x="6821280" y="24231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1849D"/>
                </a:solidFill>
                <a:effectLst/>
                <a:uFillTx/>
                <a:latin typeface="Calibri"/>
                <a:ea typeface="Calibri"/>
              </a:rPr>
              <a:t>Demo funcional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44"/>
          <p:cNvSpPr/>
          <p:nvPr/>
        </p:nvSpPr>
        <p:spPr>
          <a:xfrm>
            <a:off x="292680" y="2743200"/>
            <a:ext cx="4205880" cy="138960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45"/>
          <p:cNvSpPr/>
          <p:nvPr/>
        </p:nvSpPr>
        <p:spPr>
          <a:xfrm>
            <a:off x="384120" y="277992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C9D8EA"/>
                </a:solidFill>
                <a:effectLst/>
                <a:uFillTx/>
                <a:latin typeface="Consolas"/>
                <a:ea typeface="Consolas"/>
              </a:rPr>
              <a:t>MÉTRICAS MT5 — INFORME PARSEADO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46"/>
          <p:cNvSpPr/>
          <p:nvPr/>
        </p:nvSpPr>
        <p:spPr>
          <a:xfrm>
            <a:off x="384120" y="301752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Profit Factor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47"/>
          <p:cNvSpPr/>
          <p:nvPr/>
        </p:nvSpPr>
        <p:spPr>
          <a:xfrm>
            <a:off x="1664280" y="3063240"/>
            <a:ext cx="2194200" cy="10944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48"/>
          <p:cNvSpPr/>
          <p:nvPr/>
        </p:nvSpPr>
        <p:spPr>
          <a:xfrm>
            <a:off x="1664280" y="3063240"/>
            <a:ext cx="2194200" cy="109440"/>
          </a:xfrm>
          <a:prstGeom prst="rect">
            <a:avLst/>
          </a:prstGeom>
          <a:solidFill>
            <a:srgbClr val="00E09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49"/>
          <p:cNvSpPr/>
          <p:nvPr/>
        </p:nvSpPr>
        <p:spPr>
          <a:xfrm>
            <a:off x="3950280" y="3017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2.61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50"/>
          <p:cNvSpPr/>
          <p:nvPr/>
        </p:nvSpPr>
        <p:spPr>
          <a:xfrm>
            <a:off x="384120" y="32734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Win Rate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51"/>
          <p:cNvSpPr/>
          <p:nvPr/>
        </p:nvSpPr>
        <p:spPr>
          <a:xfrm>
            <a:off x="1664280" y="3319200"/>
            <a:ext cx="2194200" cy="10944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52"/>
          <p:cNvSpPr/>
          <p:nvPr/>
        </p:nvSpPr>
        <p:spPr>
          <a:xfrm>
            <a:off x="1664280" y="3319200"/>
            <a:ext cx="1689480" cy="109440"/>
          </a:xfrm>
          <a:prstGeom prst="rect">
            <a:avLst/>
          </a:prstGeom>
          <a:solidFill>
            <a:srgbClr val="00E09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53"/>
          <p:cNvSpPr/>
          <p:nvPr/>
        </p:nvSpPr>
        <p:spPr>
          <a:xfrm>
            <a:off x="3950280" y="327348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76.7%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54"/>
          <p:cNvSpPr/>
          <p:nvPr/>
        </p:nvSpPr>
        <p:spPr>
          <a:xfrm>
            <a:off x="384120" y="35294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Max Drawdown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55"/>
          <p:cNvSpPr/>
          <p:nvPr/>
        </p:nvSpPr>
        <p:spPr>
          <a:xfrm>
            <a:off x="1664280" y="3575160"/>
            <a:ext cx="2194200" cy="10944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56"/>
          <p:cNvSpPr/>
          <p:nvPr/>
        </p:nvSpPr>
        <p:spPr>
          <a:xfrm>
            <a:off x="1664280" y="3575160"/>
            <a:ext cx="1491840" cy="109440"/>
          </a:xfrm>
          <a:prstGeom prst="rect">
            <a:avLst/>
          </a:prstGeom>
          <a:solidFill>
            <a:srgbClr val="FF8C42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57"/>
          <p:cNvSpPr/>
          <p:nvPr/>
        </p:nvSpPr>
        <p:spPr>
          <a:xfrm>
            <a:off x="3950280" y="352944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8.45%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58"/>
          <p:cNvSpPr/>
          <p:nvPr/>
        </p:nvSpPr>
        <p:spPr>
          <a:xfrm>
            <a:off x="384120" y="378576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Sharpe Ratio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59"/>
          <p:cNvSpPr/>
          <p:nvPr/>
        </p:nvSpPr>
        <p:spPr>
          <a:xfrm>
            <a:off x="1664280" y="3831480"/>
            <a:ext cx="2194200" cy="109440"/>
          </a:xfrm>
          <a:prstGeom prst="rect">
            <a:avLst/>
          </a:prstGeom>
          <a:solidFill>
            <a:srgbClr val="1726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60"/>
          <p:cNvSpPr/>
          <p:nvPr/>
        </p:nvSpPr>
        <p:spPr>
          <a:xfrm>
            <a:off x="1664280" y="3831480"/>
            <a:ext cx="2062440" cy="109440"/>
          </a:xfrm>
          <a:prstGeom prst="rect">
            <a:avLst/>
          </a:prstGeom>
          <a:solidFill>
            <a:srgbClr val="00E09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61"/>
          <p:cNvSpPr/>
          <p:nvPr/>
        </p:nvSpPr>
        <p:spPr>
          <a:xfrm>
            <a:off x="3950280" y="378576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BE7F5"/>
                </a:solidFill>
                <a:effectLst/>
                <a:uFillTx/>
                <a:latin typeface="Consolas"/>
                <a:ea typeface="Consolas"/>
              </a:rPr>
              <a:t>1.87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62"/>
          <p:cNvSpPr/>
          <p:nvPr/>
        </p:nvSpPr>
        <p:spPr>
          <a:xfrm>
            <a:off x="384120" y="404172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Fuente: sample_mt5_report · SHA-256: 0a9059d1845a7d...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63"/>
          <p:cNvSpPr/>
          <p:nvPr/>
        </p:nvSpPr>
        <p:spPr>
          <a:xfrm>
            <a:off x="4645080" y="2743200"/>
            <a:ext cx="4205880" cy="1389600"/>
          </a:xfrm>
          <a:prstGeom prst="rect">
            <a:avLst/>
          </a:prstGeom>
          <a:solidFill>
            <a:srgbClr val="111A2B"/>
          </a:solidFill>
          <a:ln w="6350">
            <a:solidFill>
              <a:srgbClr val="1D30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4"/>
          <p:cNvSpPr/>
          <p:nvPr/>
        </p:nvSpPr>
        <p:spPr>
          <a:xfrm>
            <a:off x="4736520" y="2779920"/>
            <a:ext cx="4023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99">
                <a:solidFill>
                  <a:srgbClr val="C9D8EA"/>
                </a:solidFill>
                <a:effectLst/>
                <a:uFillTx/>
                <a:latin typeface="Consolas"/>
                <a:ea typeface="Consolas"/>
              </a:rPr>
              <a:t>MÉTRICAS RECALCULADAS — METRICS ENGINE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65"/>
          <p:cNvSpPr/>
          <p:nvPr/>
        </p:nvSpPr>
        <p:spPr>
          <a:xfrm>
            <a:off x="4645080" y="3017520"/>
            <a:ext cx="4205880" cy="237240"/>
          </a:xfrm>
          <a:prstGeom prst="rect">
            <a:avLst/>
          </a:prstGeom>
          <a:solidFill>
            <a:srgbClr val="0D15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66"/>
          <p:cNvSpPr/>
          <p:nvPr/>
        </p:nvSpPr>
        <p:spPr>
          <a:xfrm>
            <a:off x="4736520" y="30175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Profit Factor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67"/>
          <p:cNvSpPr/>
          <p:nvPr/>
        </p:nvSpPr>
        <p:spPr>
          <a:xfrm>
            <a:off x="7754040" y="301752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3.3997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68"/>
          <p:cNvSpPr/>
          <p:nvPr/>
        </p:nvSpPr>
        <p:spPr>
          <a:xfrm>
            <a:off x="4645080" y="3273480"/>
            <a:ext cx="4205880" cy="23724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69"/>
          <p:cNvSpPr/>
          <p:nvPr/>
        </p:nvSpPr>
        <p:spPr>
          <a:xfrm>
            <a:off x="4736520" y="327348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Win Rate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70"/>
          <p:cNvSpPr/>
          <p:nvPr/>
        </p:nvSpPr>
        <p:spPr>
          <a:xfrm>
            <a:off x="7754040" y="327348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60.0%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71"/>
          <p:cNvSpPr/>
          <p:nvPr/>
        </p:nvSpPr>
        <p:spPr>
          <a:xfrm>
            <a:off x="4645080" y="3529440"/>
            <a:ext cx="4205880" cy="237240"/>
          </a:xfrm>
          <a:prstGeom prst="rect">
            <a:avLst/>
          </a:prstGeom>
          <a:solidFill>
            <a:srgbClr val="0D15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72"/>
          <p:cNvSpPr/>
          <p:nvPr/>
        </p:nvSpPr>
        <p:spPr>
          <a:xfrm>
            <a:off x="4736520" y="35294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Sortino Ratio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73"/>
          <p:cNvSpPr/>
          <p:nvPr/>
        </p:nvSpPr>
        <p:spPr>
          <a:xfrm>
            <a:off x="7754040" y="35294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1.3965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74"/>
          <p:cNvSpPr/>
          <p:nvPr/>
        </p:nvSpPr>
        <p:spPr>
          <a:xfrm>
            <a:off x="4645080" y="3785760"/>
            <a:ext cx="4205880" cy="237240"/>
          </a:xfrm>
          <a:prstGeom prst="rect">
            <a:avLst/>
          </a:prstGeom>
          <a:solidFill>
            <a:srgbClr val="111A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75"/>
          <p:cNvSpPr/>
          <p:nvPr/>
        </p:nvSpPr>
        <p:spPr>
          <a:xfrm>
            <a:off x="4736520" y="37857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C9DE"/>
                </a:solidFill>
                <a:effectLst/>
                <a:uFillTx/>
                <a:latin typeface="Calibri"/>
                <a:ea typeface="Calibri"/>
              </a:rPr>
              <a:t>Max Daily Loss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76"/>
          <p:cNvSpPr/>
          <p:nvPr/>
        </p:nvSpPr>
        <p:spPr>
          <a:xfrm>
            <a:off x="7754040" y="378576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0.96%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77"/>
          <p:cNvSpPr/>
          <p:nvPr/>
        </p:nvSpPr>
        <p:spPr>
          <a:xfrm>
            <a:off x="4736520" y="4041720"/>
            <a:ext cx="4023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Recálculo independiente · Expectancy: 51.99 · Max racha pérd.: 1</a:t>
            </a:r>
            <a:endParaRPr lang="es-E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78"/>
          <p:cNvSpPr/>
          <p:nvPr/>
        </p:nvSpPr>
        <p:spPr>
          <a:xfrm>
            <a:off x="292680" y="4279320"/>
            <a:ext cx="8558280" cy="566640"/>
          </a:xfrm>
          <a:prstGeom prst="rect">
            <a:avLst/>
          </a:prstGeom>
          <a:solidFill>
            <a:srgbClr val="080010">
              <a:alpha val="80000"/>
            </a:srgbClr>
          </a:solidFill>
          <a:ln w="6350">
            <a:solidFill>
              <a:srgbClr val="4B26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79"/>
          <p:cNvSpPr/>
          <p:nvPr/>
        </p:nvSpPr>
        <p:spPr>
          <a:xfrm>
            <a:off x="384120" y="4306680"/>
            <a:ext cx="8366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B2B2"/>
                </a:solidFill>
                <a:effectLst/>
                <a:uFillTx/>
                <a:latin typeface="Consolas"/>
                <a:ea typeface="Consolas"/>
              </a:rPr>
              <a:t>⊘ La IA no decide  ·  ⊘ La IA no ejecuta  ·  ALLOW_REAL_EXECUTION = False  ·  approved_for_real = False ← INMUTABLE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80"/>
          <p:cNvSpPr/>
          <p:nvPr/>
        </p:nvSpPr>
        <p:spPr>
          <a:xfrm>
            <a:off x="384120" y="4581000"/>
            <a:ext cx="8366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BacktestValidator: OBSERVACIÓN — Sortino débil (1.40 &lt; 1.50) · Baja confianza Monte Carlo (&lt;30 trades demo)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81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15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0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16 · ROADMAP FUTURO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"/>
          <p:cNvSpPr/>
          <p:nvPr/>
        </p:nvSpPr>
        <p:spPr>
          <a:xfrm>
            <a:off x="365760" y="640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Próximas Fases de Desarrollo</a:t>
            </a:r>
            <a:endParaRPr lang="es-E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3"/>
          <p:cNvSpPr/>
          <p:nvPr/>
        </p:nvSpPr>
        <p:spPr>
          <a:xfrm>
            <a:off x="365760" y="1325880"/>
            <a:ext cx="658080" cy="566640"/>
          </a:xfrm>
          <a:prstGeom prst="rect">
            <a:avLst/>
          </a:prstGeom>
          <a:solidFill>
            <a:srgbClr val="4DA8FF">
              <a:alpha val="20000"/>
            </a:srgbClr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4"/>
          <p:cNvSpPr/>
          <p:nvPr/>
        </p:nvSpPr>
        <p:spPr>
          <a:xfrm>
            <a:off x="365760" y="132588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4DA8FF"/>
                </a:solidFill>
                <a:effectLst/>
                <a:uFillTx/>
                <a:latin typeface="Consolas"/>
                <a:ea typeface="Consolas"/>
              </a:rPr>
              <a:t>FASE 2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5"/>
          <p:cNvSpPr/>
          <p:nvPr/>
        </p:nvSpPr>
        <p:spPr>
          <a:xfrm>
            <a:off x="1097280" y="1554480"/>
            <a:ext cx="273960" cy="36360"/>
          </a:xfrm>
          <a:prstGeom prst="rect">
            <a:avLst/>
          </a:prstGeom>
          <a:solidFill>
            <a:srgbClr val="4DA8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6"/>
          <p:cNvSpPr/>
          <p:nvPr/>
        </p:nvSpPr>
        <p:spPr>
          <a:xfrm>
            <a:off x="1417320" y="1280160"/>
            <a:ext cx="7360560" cy="658080"/>
          </a:xfrm>
          <a:prstGeom prst="rect">
            <a:avLst/>
          </a:prstGeom>
          <a:solidFill>
            <a:srgbClr val="0F2040"/>
          </a:solidFill>
          <a:ln w="6350">
            <a:solidFill>
              <a:srgbClr val="4DA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7"/>
          <p:cNvSpPr/>
          <p:nvPr/>
        </p:nvSpPr>
        <p:spPr>
          <a:xfrm>
            <a:off x="1417320" y="1280160"/>
            <a:ext cx="54360" cy="658080"/>
          </a:xfrm>
          <a:prstGeom prst="rect">
            <a:avLst/>
          </a:prstGeom>
          <a:solidFill>
            <a:srgbClr val="4DA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Image 0" descr="preencoded.png"/>
          <p:cNvPicPr/>
          <p:nvPr/>
        </p:nvPicPr>
        <p:blipFill>
          <a:blip r:embed="rId3"/>
          <a:stretch/>
        </p:blipFill>
        <p:spPr>
          <a:xfrm>
            <a:off x="1600200" y="1408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5" name="Text 8"/>
          <p:cNvSpPr/>
          <p:nvPr/>
        </p:nvSpPr>
        <p:spPr>
          <a:xfrm>
            <a:off x="2103120" y="134424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DA8FF"/>
                </a:solidFill>
                <a:effectLst/>
                <a:uFillTx/>
                <a:latin typeface="Calibri"/>
                <a:ea typeface="Calibri"/>
              </a:rPr>
              <a:t>RemoteAPIValidator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9"/>
          <p:cNvSpPr/>
          <p:nvPr/>
        </p:nvSpPr>
        <p:spPr>
          <a:xfrm>
            <a:off x="2103120" y="1627560"/>
            <a:ext cx="6491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Validación de estrategias vía API remota para entornos distribuidos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365760" y="2075760"/>
            <a:ext cx="658080" cy="566640"/>
          </a:xfrm>
          <a:prstGeom prst="rect">
            <a:avLst/>
          </a:prstGeom>
          <a:solidFill>
            <a:srgbClr val="00B478">
              <a:alpha val="20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1"/>
          <p:cNvSpPr/>
          <p:nvPr/>
        </p:nvSpPr>
        <p:spPr>
          <a:xfrm>
            <a:off x="365760" y="207576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FASE 2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2"/>
          <p:cNvSpPr/>
          <p:nvPr/>
        </p:nvSpPr>
        <p:spPr>
          <a:xfrm>
            <a:off x="1097280" y="2304360"/>
            <a:ext cx="273960" cy="36360"/>
          </a:xfrm>
          <a:prstGeom prst="rect">
            <a:avLst/>
          </a:prstGeom>
          <a:solidFill>
            <a:srgbClr val="00B47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3"/>
          <p:cNvSpPr/>
          <p:nvPr/>
        </p:nvSpPr>
        <p:spPr>
          <a:xfrm>
            <a:off x="1417320" y="2030040"/>
            <a:ext cx="7360560" cy="65808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4"/>
          <p:cNvSpPr/>
          <p:nvPr/>
        </p:nvSpPr>
        <p:spPr>
          <a:xfrm>
            <a:off x="1417320" y="2030040"/>
            <a:ext cx="54360" cy="65808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2" name="Image 1" descr="preencoded.png"/>
          <p:cNvPicPr/>
          <p:nvPr/>
        </p:nvPicPr>
        <p:blipFill>
          <a:blip r:embed="rId4"/>
          <a:stretch/>
        </p:blipFill>
        <p:spPr>
          <a:xfrm>
            <a:off x="1600200" y="21578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3" name="Text 15"/>
          <p:cNvSpPr/>
          <p:nvPr/>
        </p:nvSpPr>
        <p:spPr>
          <a:xfrm>
            <a:off x="2103120" y="209412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78"/>
                </a:solidFill>
                <a:effectLst/>
                <a:uFillTx/>
                <a:latin typeface="Calibri"/>
                <a:ea typeface="Calibri"/>
              </a:rPr>
              <a:t>Telegram Approval Layer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6"/>
          <p:cNvSpPr/>
          <p:nvPr/>
        </p:nvSpPr>
        <p:spPr>
          <a:xfrm>
            <a:off x="2103120" y="2377440"/>
            <a:ext cx="6491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Capa de aprobación humana integrada con bot de Telegram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7"/>
          <p:cNvSpPr/>
          <p:nvPr/>
        </p:nvSpPr>
        <p:spPr>
          <a:xfrm>
            <a:off x="365760" y="2825640"/>
            <a:ext cx="658080" cy="566640"/>
          </a:xfrm>
          <a:prstGeom prst="rect">
            <a:avLst/>
          </a:prstGeom>
          <a:solidFill>
            <a:srgbClr val="FF8C42">
              <a:alpha val="20000"/>
            </a:srgbClr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8"/>
          <p:cNvSpPr/>
          <p:nvPr/>
        </p:nvSpPr>
        <p:spPr>
          <a:xfrm>
            <a:off x="365760" y="282564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8C42"/>
                </a:solidFill>
                <a:effectLst/>
                <a:uFillTx/>
                <a:latin typeface="Consolas"/>
                <a:ea typeface="Consolas"/>
              </a:rPr>
              <a:t>FASE 3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19"/>
          <p:cNvSpPr/>
          <p:nvPr/>
        </p:nvSpPr>
        <p:spPr>
          <a:xfrm>
            <a:off x="1097280" y="3054240"/>
            <a:ext cx="273960" cy="36360"/>
          </a:xfrm>
          <a:prstGeom prst="rect">
            <a:avLst/>
          </a:prstGeom>
          <a:solidFill>
            <a:srgbClr val="FF8C42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0"/>
          <p:cNvSpPr/>
          <p:nvPr/>
        </p:nvSpPr>
        <p:spPr>
          <a:xfrm>
            <a:off x="1417320" y="2779920"/>
            <a:ext cx="7360560" cy="658080"/>
          </a:xfrm>
          <a:prstGeom prst="rect">
            <a:avLst/>
          </a:prstGeom>
          <a:solidFill>
            <a:srgbClr val="0F2040"/>
          </a:solidFill>
          <a:ln w="6350">
            <a:solidFill>
              <a:srgbClr val="FF8C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1"/>
          <p:cNvSpPr/>
          <p:nvPr/>
        </p:nvSpPr>
        <p:spPr>
          <a:xfrm>
            <a:off x="1417320" y="2779920"/>
            <a:ext cx="54360" cy="65808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0" name="Image 2" descr="preencoded.png"/>
          <p:cNvPicPr/>
          <p:nvPr/>
        </p:nvPicPr>
        <p:blipFill>
          <a:blip r:embed="rId5"/>
          <a:stretch/>
        </p:blipFill>
        <p:spPr>
          <a:xfrm>
            <a:off x="1600200" y="29077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1" name="Text 22"/>
          <p:cNvSpPr/>
          <p:nvPr/>
        </p:nvSpPr>
        <p:spPr>
          <a:xfrm>
            <a:off x="2103120" y="284364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8C42"/>
                </a:solidFill>
                <a:effectLst/>
                <a:uFillTx/>
                <a:latin typeface="Calibri"/>
                <a:ea typeface="Calibri"/>
              </a:rPr>
              <a:t>Gatekeeper MT5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3"/>
          <p:cNvSpPr/>
          <p:nvPr/>
        </p:nvSpPr>
        <p:spPr>
          <a:xfrm>
            <a:off x="2103120" y="3127320"/>
            <a:ext cx="6491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Capa de control definitiva antes del conector con MetaTrader 5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24"/>
          <p:cNvSpPr/>
          <p:nvPr/>
        </p:nvSpPr>
        <p:spPr>
          <a:xfrm>
            <a:off x="365760" y="3575160"/>
            <a:ext cx="658080" cy="566640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25"/>
          <p:cNvSpPr/>
          <p:nvPr/>
        </p:nvSpPr>
        <p:spPr>
          <a:xfrm>
            <a:off x="365760" y="357516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FASE 3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26"/>
          <p:cNvSpPr/>
          <p:nvPr/>
        </p:nvSpPr>
        <p:spPr>
          <a:xfrm>
            <a:off x="1097280" y="3803760"/>
            <a:ext cx="273960" cy="36360"/>
          </a:xfrm>
          <a:prstGeom prst="rect">
            <a:avLst/>
          </a:prstGeom>
          <a:solidFill>
            <a:srgbClr val="F59E0B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27"/>
          <p:cNvSpPr/>
          <p:nvPr/>
        </p:nvSpPr>
        <p:spPr>
          <a:xfrm>
            <a:off x="1417320" y="3529440"/>
            <a:ext cx="7360560" cy="658080"/>
          </a:xfrm>
          <a:prstGeom prst="rect">
            <a:avLst/>
          </a:prstGeom>
          <a:solidFill>
            <a:srgbClr val="0F2040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28"/>
          <p:cNvSpPr/>
          <p:nvPr/>
        </p:nvSpPr>
        <p:spPr>
          <a:xfrm>
            <a:off x="1417320" y="3529440"/>
            <a:ext cx="54360" cy="6580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8" name="Image 3" descr="preencoded.png"/>
          <p:cNvPicPr/>
          <p:nvPr/>
        </p:nvPicPr>
        <p:blipFill>
          <a:blip r:embed="rId6"/>
          <a:stretch/>
        </p:blipFill>
        <p:spPr>
          <a:xfrm>
            <a:off x="1600200" y="365760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29"/>
          <p:cNvSpPr/>
          <p:nvPr/>
        </p:nvSpPr>
        <p:spPr>
          <a:xfrm>
            <a:off x="2103120" y="359352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Paper Trading Sandbox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30"/>
          <p:cNvSpPr/>
          <p:nvPr/>
        </p:nvSpPr>
        <p:spPr>
          <a:xfrm>
            <a:off x="2103120" y="3877200"/>
            <a:ext cx="6491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Entorno completo de simulación sin riesgo de capital real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31"/>
          <p:cNvSpPr/>
          <p:nvPr/>
        </p:nvSpPr>
        <p:spPr>
          <a:xfrm>
            <a:off x="365760" y="4325040"/>
            <a:ext cx="658080" cy="566640"/>
          </a:xfrm>
          <a:prstGeom prst="rect">
            <a:avLst/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2"/>
          <p:cNvSpPr/>
          <p:nvPr/>
        </p:nvSpPr>
        <p:spPr>
          <a:xfrm>
            <a:off x="365760" y="4325040"/>
            <a:ext cx="6580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FASE 4</a:t>
            </a:r>
            <a:endParaRPr lang="es-E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33"/>
          <p:cNvSpPr/>
          <p:nvPr/>
        </p:nvSpPr>
        <p:spPr>
          <a:xfrm>
            <a:off x="1097280" y="4553640"/>
            <a:ext cx="273960" cy="36360"/>
          </a:xfrm>
          <a:prstGeom prst="rect">
            <a:avLst/>
          </a:prstGeom>
          <a:solidFill>
            <a:srgbClr val="A78BFA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34"/>
          <p:cNvSpPr/>
          <p:nvPr/>
        </p:nvSpPr>
        <p:spPr>
          <a:xfrm>
            <a:off x="1417320" y="4279320"/>
            <a:ext cx="7360560" cy="658080"/>
          </a:xfrm>
          <a:prstGeom prst="rect">
            <a:avLst/>
          </a:prstGeom>
          <a:solidFill>
            <a:srgbClr val="0F2040"/>
          </a:solidFill>
          <a:ln w="63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35"/>
          <p:cNvSpPr/>
          <p:nvPr/>
        </p:nvSpPr>
        <p:spPr>
          <a:xfrm>
            <a:off x="1417320" y="4279320"/>
            <a:ext cx="54360" cy="6580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6" name="Image 4" descr="preencoded.png"/>
          <p:cNvPicPr/>
          <p:nvPr/>
        </p:nvPicPr>
        <p:blipFill>
          <a:blip r:embed="rId7"/>
          <a:stretch/>
        </p:blipFill>
        <p:spPr>
          <a:xfrm>
            <a:off x="1600200" y="44074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Text 36"/>
          <p:cNvSpPr/>
          <p:nvPr/>
        </p:nvSpPr>
        <p:spPr>
          <a:xfrm>
            <a:off x="2103120" y="4343400"/>
            <a:ext cx="411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TradingView Integration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37"/>
          <p:cNvSpPr/>
          <p:nvPr/>
        </p:nvSpPr>
        <p:spPr>
          <a:xfrm>
            <a:off x="2103120" y="4626720"/>
            <a:ext cx="6491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A8EA8"/>
                </a:solidFill>
                <a:effectLst/>
                <a:uFillTx/>
                <a:latin typeface="Calibri"/>
                <a:ea typeface="Calibri"/>
              </a:rPr>
              <a:t>Integración de señales y charts desde la plataforma TradingView  ·  Nota: Todas las fases mantienen IA supervisada, aprobación humana y sin ejecución real automática.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38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16 / 17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0"/>
          <p:cNvSpPr/>
          <p:nvPr/>
        </p:nvSpPr>
        <p:spPr>
          <a:xfrm>
            <a:off x="-914400" y="-914400"/>
            <a:ext cx="5486040" cy="5486040"/>
          </a:xfrm>
          <a:solidFill>
            <a:srgbClr val="0074CC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"/>
          <p:cNvSpPr/>
          <p:nvPr/>
        </p:nvSpPr>
        <p:spPr>
          <a:xfrm>
            <a:off x="5486400" y="1828800"/>
            <a:ext cx="4571640" cy="4571640"/>
          </a:xfrm>
          <a:solidFill>
            <a:srgbClr val="00B478">
              <a:alpha val="7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2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3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17 · APRENDIZAJES Y RESULTADOS ACADÉMICOS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4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Aprendizajes y Resultados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5"/>
          <p:cNvSpPr/>
          <p:nvPr/>
        </p:nvSpPr>
        <p:spPr>
          <a:xfrm>
            <a:off x="365760" y="12070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B478"/>
                </a:solidFill>
                <a:effectLst/>
                <a:uFillTx/>
                <a:latin typeface="Calibri"/>
                <a:ea typeface="Calibri"/>
              </a:rPr>
              <a:t>Competencias desarrolladas durante el curso: IA práctica para crear soluciones de negocio con Antigravity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6"/>
          <p:cNvSpPr/>
          <p:nvPr/>
        </p:nvSpPr>
        <p:spPr>
          <a:xfrm>
            <a:off x="365760" y="171900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7"/>
          <p:cNvSpPr/>
          <p:nvPr/>
        </p:nvSpPr>
        <p:spPr>
          <a:xfrm>
            <a:off x="365760" y="171900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8" name="Image 0" descr="preencoded.png"/>
          <p:cNvPicPr/>
          <p:nvPr/>
        </p:nvPicPr>
        <p:blipFill>
          <a:blip r:embed="rId2"/>
          <a:stretch/>
        </p:blipFill>
        <p:spPr>
          <a:xfrm>
            <a:off x="567000" y="1828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Text 8"/>
          <p:cNvSpPr/>
          <p:nvPr/>
        </p:nvSpPr>
        <p:spPr>
          <a:xfrm>
            <a:off x="1005840" y="171900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Diseño de arquitecturas seguras con IA: separación de responsabilidades y principio Human-in-the-Loop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9"/>
          <p:cNvSpPr/>
          <p:nvPr/>
        </p:nvSpPr>
        <p:spPr>
          <a:xfrm>
            <a:off x="365760" y="231336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0"/>
          <p:cNvSpPr/>
          <p:nvPr/>
        </p:nvSpPr>
        <p:spPr>
          <a:xfrm>
            <a:off x="365760" y="231336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2" name="Image 1" descr="preencoded.png"/>
          <p:cNvPicPr/>
          <p:nvPr/>
        </p:nvPicPr>
        <p:blipFill>
          <a:blip r:embed="rId3"/>
          <a:stretch/>
        </p:blipFill>
        <p:spPr>
          <a:xfrm>
            <a:off x="567000" y="2423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Text 11"/>
          <p:cNvSpPr/>
          <p:nvPr/>
        </p:nvSpPr>
        <p:spPr>
          <a:xfrm>
            <a:off x="1005840" y="231336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Testing automatizado riguroso: 121 pruebas superadas garantizando que todas las invariantes de seguridad se mantienen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12"/>
          <p:cNvSpPr/>
          <p:nvPr/>
        </p:nvSpPr>
        <p:spPr>
          <a:xfrm>
            <a:off x="365760" y="290772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3"/>
          <p:cNvSpPr/>
          <p:nvPr/>
        </p:nvSpPr>
        <p:spPr>
          <a:xfrm>
            <a:off x="365760" y="290772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6" name="Image 2" descr="preencoded.png"/>
          <p:cNvPicPr/>
          <p:nvPr/>
        </p:nvPicPr>
        <p:blipFill>
          <a:blip r:embed="rId4"/>
          <a:stretch/>
        </p:blipFill>
        <p:spPr>
          <a:xfrm>
            <a:off x="567000" y="3017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Text 14"/>
          <p:cNvSpPr/>
          <p:nvPr/>
        </p:nvSpPr>
        <p:spPr>
          <a:xfrm>
            <a:off x="1005840" y="290772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Validación estadística mediante Monte Carlo: simulación de miles de escenarios para cuantificar el riesgo de forma matemática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5"/>
          <p:cNvSpPr/>
          <p:nvPr/>
        </p:nvSpPr>
        <p:spPr>
          <a:xfrm>
            <a:off x="365760" y="350208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16"/>
          <p:cNvSpPr/>
          <p:nvPr/>
        </p:nvSpPr>
        <p:spPr>
          <a:xfrm>
            <a:off x="365760" y="350208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0" name="Image 3" descr="preencoded.png"/>
          <p:cNvPicPr/>
          <p:nvPr/>
        </p:nvPicPr>
        <p:blipFill>
          <a:blip r:embed="rId5"/>
          <a:stretch/>
        </p:blipFill>
        <p:spPr>
          <a:xfrm>
            <a:off x="56700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Text 17"/>
          <p:cNvSpPr/>
          <p:nvPr/>
        </p:nvSpPr>
        <p:spPr>
          <a:xfrm>
            <a:off x="1005840" y="350208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Auditoría documental con SHA-256 y gobernanza de riesgos: trazabilidad completa e inmutable de cada decisión del pipeline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8"/>
          <p:cNvSpPr/>
          <p:nvPr/>
        </p:nvSpPr>
        <p:spPr>
          <a:xfrm>
            <a:off x="365760" y="409644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9"/>
          <p:cNvSpPr/>
          <p:nvPr/>
        </p:nvSpPr>
        <p:spPr>
          <a:xfrm>
            <a:off x="365760" y="409644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4" name="Image 4" descr="preencoded.png"/>
          <p:cNvPicPr/>
          <p:nvPr/>
        </p:nvPicPr>
        <p:blipFill>
          <a:blip r:embed="rId6"/>
          <a:stretch/>
        </p:blipFill>
        <p:spPr>
          <a:xfrm>
            <a:off x="567000" y="4206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 20"/>
          <p:cNvSpPr/>
          <p:nvPr/>
        </p:nvSpPr>
        <p:spPr>
          <a:xfrm>
            <a:off x="1005840" y="409644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Uso responsable de IA: desarrollo de contratos que definen el rol asesor de la IA, nunca decisor ni ejecutor autónomo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21"/>
          <p:cNvSpPr/>
          <p:nvPr/>
        </p:nvSpPr>
        <p:spPr>
          <a:xfrm>
            <a:off x="1371600" y="4736520"/>
            <a:ext cx="6400440" cy="237240"/>
          </a:xfrm>
          <a:prstGeom prst="rect">
            <a:avLst/>
          </a:prstGeom>
          <a:solidFill>
            <a:srgbClr val="00B478">
              <a:alpha val="15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2"/>
          <p:cNvSpPr/>
          <p:nvPr/>
        </p:nvSpPr>
        <p:spPr>
          <a:xfrm>
            <a:off x="1371600" y="4736520"/>
            <a:ext cx="6400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David Bazaga Domínguez  ·  JASÓN FORMACIÓN  ·  Profesora: Angélica Ortiz  ·  30/03/2026 – 09/06/2026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23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18 / 18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Shape 0"/>
          <p:cNvSpPr/>
          <p:nvPr/>
        </p:nvSpPr>
        <p:spPr>
          <a:xfrm>
            <a:off x="-914400" y="-914400"/>
            <a:ext cx="5486040" cy="5486040"/>
          </a:xfrm>
          <a:solidFill>
            <a:srgbClr val="0074CC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"/>
          <p:cNvSpPr/>
          <p:nvPr/>
        </p:nvSpPr>
        <p:spPr>
          <a:xfrm>
            <a:off x="5486400" y="1828800"/>
            <a:ext cx="4571640" cy="4571640"/>
          </a:xfrm>
          <a:solidFill>
            <a:srgbClr val="00B478">
              <a:alpha val="7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2"/>
          <p:cNvSpPr/>
          <p:nvPr/>
        </p:nvSpPr>
        <p:spPr>
          <a:xfrm>
            <a:off x="365760" y="255960"/>
            <a:ext cx="45360" cy="31068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3"/>
          <p:cNvSpPr/>
          <p:nvPr/>
        </p:nvSpPr>
        <p:spPr>
          <a:xfrm>
            <a:off x="502920" y="2559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300">
                <a:solidFill>
                  <a:srgbClr val="00B478"/>
                </a:solidFill>
                <a:effectLst/>
                <a:uFillTx/>
                <a:latin typeface="Consolas"/>
                <a:ea typeface="Consolas"/>
              </a:rPr>
              <a:t>18 · CONCLUSIONES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4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ANTIGRAVITY</a:t>
            </a:r>
            <a:endParaRPr lang="es-E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5"/>
          <p:cNvSpPr/>
          <p:nvPr/>
        </p:nvSpPr>
        <p:spPr>
          <a:xfrm>
            <a:off x="365760" y="12070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B478"/>
                </a:solidFill>
                <a:effectLst/>
                <a:uFillTx/>
                <a:latin typeface="Calibri"/>
                <a:ea typeface="Calibri"/>
              </a:rPr>
              <a:t>Proyecto académico de valor real: de la idea inicial del Gatekeeper a un laboratorio de validación segura con IA responsable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6"/>
          <p:cNvSpPr/>
          <p:nvPr/>
        </p:nvSpPr>
        <p:spPr>
          <a:xfrm>
            <a:off x="365760" y="171900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7"/>
          <p:cNvSpPr/>
          <p:nvPr/>
        </p:nvSpPr>
        <p:spPr>
          <a:xfrm>
            <a:off x="365760" y="171900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7" name="Image 0" descr="preencoded.png"/>
          <p:cNvPicPr/>
          <p:nvPr/>
        </p:nvPicPr>
        <p:blipFill>
          <a:blip r:embed="rId3"/>
          <a:stretch/>
        </p:blipFill>
        <p:spPr>
          <a:xfrm>
            <a:off x="567000" y="18288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8" name="Text 8"/>
          <p:cNvSpPr/>
          <p:nvPr/>
        </p:nvSpPr>
        <p:spPr>
          <a:xfrm>
            <a:off x="1005840" y="171900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Arquitectura profesional diseñada con seguridad en la base: Antigravity NO es trading automático, es un laboratorio académico de validación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9"/>
          <p:cNvSpPr/>
          <p:nvPr/>
        </p:nvSpPr>
        <p:spPr>
          <a:xfrm>
            <a:off x="365760" y="231336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0"/>
          <p:cNvSpPr/>
          <p:nvPr/>
        </p:nvSpPr>
        <p:spPr>
          <a:xfrm>
            <a:off x="365760" y="231336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1" name="Image 1" descr="preencoded.png"/>
          <p:cNvPicPr/>
          <p:nvPr/>
        </p:nvPicPr>
        <p:blipFill>
          <a:blip r:embed="rId4"/>
          <a:stretch/>
        </p:blipFill>
        <p:spPr>
          <a:xfrm>
            <a:off x="567000" y="2423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Text 11"/>
          <p:cNvSpPr/>
          <p:nvPr/>
        </p:nvSpPr>
        <p:spPr>
          <a:xfrm>
            <a:off x="1005840" y="231336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121 tests verifican que todas las invariantes se mantienen en todo momento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12"/>
          <p:cNvSpPr/>
          <p:nvPr/>
        </p:nvSpPr>
        <p:spPr>
          <a:xfrm>
            <a:off x="365760" y="290772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3"/>
          <p:cNvSpPr/>
          <p:nvPr/>
        </p:nvSpPr>
        <p:spPr>
          <a:xfrm>
            <a:off x="365760" y="290772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5" name="Image 2" descr="preencoded.png"/>
          <p:cNvPicPr/>
          <p:nvPr/>
        </p:nvPicPr>
        <p:blipFill>
          <a:blip r:embed="rId5"/>
          <a:stretch/>
        </p:blipFill>
        <p:spPr>
          <a:xfrm>
            <a:off x="567000" y="3017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6" name="Text 14"/>
          <p:cNvSpPr/>
          <p:nvPr/>
        </p:nvSpPr>
        <p:spPr>
          <a:xfrm>
            <a:off x="1005840" y="290772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Validación estadística rigurosa elimina estrategias con rendimiento espurio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5"/>
          <p:cNvSpPr/>
          <p:nvPr/>
        </p:nvSpPr>
        <p:spPr>
          <a:xfrm>
            <a:off x="365760" y="350208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16"/>
          <p:cNvSpPr/>
          <p:nvPr/>
        </p:nvSpPr>
        <p:spPr>
          <a:xfrm>
            <a:off x="365760" y="350208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9" name="Image 3" descr="preencoded.png"/>
          <p:cNvPicPr/>
          <p:nvPr/>
        </p:nvPicPr>
        <p:blipFill>
          <a:blip r:embed="rId6"/>
          <a:stretch/>
        </p:blipFill>
        <p:spPr>
          <a:xfrm>
            <a:off x="567000" y="361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0" name="Text 17"/>
          <p:cNvSpPr/>
          <p:nvPr/>
        </p:nvSpPr>
        <p:spPr>
          <a:xfrm>
            <a:off x="1005840" y="350208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10,000 simulaciones Monte Carlo cuantifican el riesgo antes de cualquier aprobación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8"/>
          <p:cNvSpPr/>
          <p:nvPr/>
        </p:nvSpPr>
        <p:spPr>
          <a:xfrm>
            <a:off x="365760" y="4096440"/>
            <a:ext cx="8412120" cy="50256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19"/>
          <p:cNvSpPr/>
          <p:nvPr/>
        </p:nvSpPr>
        <p:spPr>
          <a:xfrm>
            <a:off x="365760" y="4096440"/>
            <a:ext cx="54360" cy="502560"/>
          </a:xfrm>
          <a:prstGeom prst="rect">
            <a:avLst/>
          </a:prstGeom>
          <a:solidFill>
            <a:srgbClr val="00B47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3" name="Image 4" descr="preencoded.png"/>
          <p:cNvPicPr/>
          <p:nvPr/>
        </p:nvPicPr>
        <p:blipFill>
          <a:blip r:embed="rId7"/>
          <a:stretch/>
        </p:blipFill>
        <p:spPr>
          <a:xfrm>
            <a:off x="567000" y="4206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Text 20"/>
          <p:cNvSpPr/>
          <p:nvPr/>
        </p:nvSpPr>
        <p:spPr>
          <a:xfrm>
            <a:off x="1005840" y="4096440"/>
            <a:ext cx="7634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8D8E8"/>
                </a:solidFill>
                <a:effectLst/>
                <a:uFillTx/>
                <a:latin typeface="Calibri"/>
                <a:ea typeface="Calibri"/>
              </a:rPr>
              <a:t>Supervisión humana como principio central: la IA analiza, el RiskEngine valida, el humano decide · SHA-256 garantiza trazabilidad completa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21"/>
          <p:cNvSpPr/>
          <p:nvPr/>
        </p:nvSpPr>
        <p:spPr>
          <a:xfrm>
            <a:off x="1371600" y="4736520"/>
            <a:ext cx="6400440" cy="237240"/>
          </a:xfrm>
          <a:prstGeom prst="rect">
            <a:avLst/>
          </a:prstGeom>
          <a:solidFill>
            <a:srgbClr val="00B478">
              <a:alpha val="15000"/>
            </a:srgbClr>
          </a:solidFill>
          <a:ln w="6350">
            <a:solidFill>
              <a:srgbClr val="00B4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22"/>
          <p:cNvSpPr/>
          <p:nvPr/>
        </p:nvSpPr>
        <p:spPr>
          <a:xfrm>
            <a:off x="1371600" y="4736520"/>
            <a:ext cx="6400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0E096"/>
                </a:solidFill>
                <a:effectLst/>
                <a:uFillTx/>
                <a:latin typeface="Consolas"/>
                <a:ea typeface="Consolas"/>
              </a:rPr>
              <a:t>approved_for_real = False  ·  ALLOW_REAL_EXECUTION = False  ·  Research Edition v1.0</a:t>
            </a:r>
            <a:endParaRPr lang="es-E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23"/>
          <p:cNvSpPr/>
          <p:nvPr/>
        </p:nvSpPr>
        <p:spPr>
          <a:xfrm>
            <a:off x="8046720" y="48463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A8EA8"/>
                </a:solidFill>
                <a:effectLst/>
                <a:uFillTx/>
                <a:latin typeface="Consolas"/>
                <a:ea typeface="Consolas"/>
              </a:rPr>
              <a:t>18 / 18</a:t>
            </a:r>
            <a:endParaRPr lang="es-E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1898</Words>
  <Application>Microsoft Office PowerPoint</Application>
  <PresentationFormat>Presentación en pantalla (16:9)</PresentationFormat>
  <Paragraphs>460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– Plataforma de Investigación Algorítmica</dc:title>
  <dc:subject>PptxGenJS Presentation</dc:subject>
  <dc:creator>PptxGenJS</dc:creator>
  <dc:description/>
  <cp:lastModifiedBy>José Manuel Blazquez Vizuete</cp:lastModifiedBy>
  <cp:revision>3</cp:revision>
  <dcterms:created xsi:type="dcterms:W3CDTF">2026-06-04T12:22:46Z</dcterms:created>
  <dcterms:modified xsi:type="dcterms:W3CDTF">2026-06-09T22:15:16Z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